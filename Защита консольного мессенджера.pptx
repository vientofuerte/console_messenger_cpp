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9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18.png" ContentType="image/png"/>
  <Override PartName="/ppt/media/image9.png" ContentType="image/png"/>
  <Override PartName="/ppt/media/image13.png" ContentType="image/png"/>
  <Override PartName="/ppt/media/image4.png" ContentType="image/png"/>
  <Override PartName="/ppt/media/image31.png" ContentType="image/png"/>
  <Override PartName="/ppt/media/image32.png" ContentType="image/png"/>
  <Override PartName="/ppt/media/image6.png" ContentType="image/png"/>
  <Override PartName="/ppt/media/image15.png" ContentType="image/png"/>
  <Override PartName="/ppt/media/image3.jpeg" ContentType="image/jpeg"/>
  <Override PartName="/ppt/media/image30.png" ContentType="image/png"/>
  <Override PartName="/ppt/media/image5.png" ContentType="image/png"/>
  <Override PartName="/ppt/media/image14.png" ContentType="image/png"/>
  <Override PartName="/ppt/media/image20.png" ContentType="image/png"/>
  <Override PartName="/ppt/media/image2.jpeg" ContentType="image/jpe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slideLayouts/slideLayout22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</p:sld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Relationship Id="rId44" Type="http://schemas.openxmlformats.org/officeDocument/2006/relationships/slide" Target="slides/slide12.xml"/><Relationship Id="rId45" Type="http://schemas.openxmlformats.org/officeDocument/2006/relationships/slide" Target="slides/slide13.xml"/><Relationship Id="rId46" Type="http://schemas.openxmlformats.org/officeDocument/2006/relationships/slide" Target="slides/slide14.xml"/><Relationship Id="rId47" Type="http://schemas.openxmlformats.org/officeDocument/2006/relationships/slide" Target="slides/slide15.xml"/><Relationship Id="rId48" Type="http://schemas.openxmlformats.org/officeDocument/2006/relationships/slide" Target="slides/slide16.xml"/><Relationship Id="rId49" Type="http://schemas.openxmlformats.org/officeDocument/2006/relationships/slide" Target="slides/slide17.xml"/><Relationship Id="rId50" Type="http://schemas.openxmlformats.org/officeDocument/2006/relationships/slide" Target="slides/slide18.xml"/><Relationship Id="rId51" Type="http://schemas.openxmlformats.org/officeDocument/2006/relationships/slide" Target="slides/slide19.xml"/><Relationship Id="rId52" Type="http://schemas.openxmlformats.org/officeDocument/2006/relationships/slide" Target="slides/slide20.xml"/><Relationship Id="rId5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59825B-70F1-49E8-9492-A804D364522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A7D014-9CE9-4FA8-B385-E3329CA7124B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666B2A-6C0E-4A90-B930-6CBA6E9B786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665EB50-22F2-4A66-9072-543C6C942E67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2E25CC-8864-4AD3-9E9A-E5D93B418BC3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7E5086-001D-4DD7-B91A-90D9FA9620B6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BC3D18D-74BE-4B56-93C8-6226211B6EA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28B9FAC-0CF0-4B22-9B74-BF6457EF68FF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8DCA231-7343-4A91-9621-DB4296BF5FE2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1C1F670-8E86-474E-95ED-FA1B06D98287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2" descr=""/>
          <p:cNvPicPr/>
          <p:nvPr/>
        </p:nvPicPr>
        <p:blipFill>
          <a:blip r:embed="rId3"/>
          <a:srcRect l="100" t="0" r="98" b="0"/>
          <a:stretch/>
        </p:blipFill>
        <p:spPr>
          <a:xfrm>
            <a:off x="-18000" y="-10080"/>
            <a:ext cx="9194040" cy="51814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9;p12"/>
          <p:cNvSpPr/>
          <p:nvPr/>
        </p:nvSpPr>
        <p:spPr>
          <a:xfrm>
            <a:off x="590400" y="1365120"/>
            <a:ext cx="7987680" cy="341172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3;p13"/>
          <p:cNvSpPr/>
          <p:nvPr/>
        </p:nvSpPr>
        <p:spPr>
          <a:xfrm>
            <a:off x="590400" y="1365120"/>
            <a:ext cx="7987680" cy="3411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8;p14"/>
          <p:cNvSpPr/>
          <p:nvPr/>
        </p:nvSpPr>
        <p:spPr>
          <a:xfrm>
            <a:off x="606240" y="2144160"/>
            <a:ext cx="7938000" cy="246384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2;p15"/>
          <p:cNvSpPr/>
          <p:nvPr/>
        </p:nvSpPr>
        <p:spPr>
          <a:xfrm>
            <a:off x="362160" y="1384200"/>
            <a:ext cx="4748040" cy="339264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1D40D1F-8952-49A2-946D-3F299CA3A5C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FE33A06-E178-4F4C-B5C1-2851F78A730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A207FB2-8741-450A-8162-C3C41556DE4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31;p7" descr="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4F483DC-D38D-4570-AA7C-7C7BDA603FC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38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rgbClr val="f3f3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B9AAFAB-A0A3-4A9C-B3C7-8E534226588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0233B99-AF29-4314-BD7E-9A9C2AE2429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71;p17" descr=""/>
          <p:cNvPicPr/>
          <p:nvPr/>
        </p:nvPicPr>
        <p:blipFill>
          <a:blip r:embed="rId3"/>
          <a:stretch/>
        </p:blipFill>
        <p:spPr>
          <a:xfrm>
            <a:off x="5283720" y="843120"/>
            <a:ext cx="3456720" cy="3456720"/>
          </a:xfrm>
          <a:prstGeom prst="rect">
            <a:avLst/>
          </a:prstGeom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110;p26"/>
          <p:cNvSpPr/>
          <p:nvPr/>
        </p:nvSpPr>
        <p:spPr>
          <a:xfrm>
            <a:off x="932760" y="1748160"/>
            <a:ext cx="2127240" cy="292896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Roboto"/>
              <a:ea typeface="Roboto"/>
            </a:endParaRPr>
          </a:p>
        </p:txBody>
      </p:sp>
      <p:sp>
        <p:nvSpPr>
          <p:cNvPr id="35" name="Google Shape;111;p26"/>
          <p:cNvSpPr/>
          <p:nvPr/>
        </p:nvSpPr>
        <p:spPr>
          <a:xfrm>
            <a:off x="3436560" y="1748160"/>
            <a:ext cx="2127240" cy="292896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Roboto"/>
              <a:ea typeface="Roboto"/>
            </a:endParaRPr>
          </a:p>
        </p:txBody>
      </p:sp>
      <p:sp>
        <p:nvSpPr>
          <p:cNvPr id="36" name="Google Shape;112;p26"/>
          <p:cNvSpPr/>
          <p:nvPr/>
        </p:nvSpPr>
        <p:spPr>
          <a:xfrm>
            <a:off x="5940000" y="1748160"/>
            <a:ext cx="2127240" cy="292896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Roboto"/>
              <a:ea typeface="Roboto"/>
            </a:endParaRPr>
          </a:p>
        </p:txBody>
      </p:sp>
      <p:sp>
        <p:nvSpPr>
          <p:cNvPr id="37" name="Google Shape;113;p26"/>
          <p:cNvSpPr/>
          <p:nvPr/>
        </p:nvSpPr>
        <p:spPr>
          <a:xfrm>
            <a:off x="1073520" y="2075040"/>
            <a:ext cx="184536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333333"/>
                </a:solidFill>
                <a:latin typeface="Roboto"/>
                <a:ea typeface="Roboto"/>
              </a:rPr>
              <a:t>Поле для текста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14;p26"/>
          <p:cNvSpPr/>
          <p:nvPr/>
        </p:nvSpPr>
        <p:spPr>
          <a:xfrm>
            <a:off x="3530880" y="2075040"/>
            <a:ext cx="19382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333333"/>
                </a:solidFill>
                <a:latin typeface="Roboto"/>
                <a:ea typeface="Roboto"/>
              </a:rPr>
              <a:t>Поле для текста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5;p26"/>
          <p:cNvSpPr/>
          <p:nvPr/>
        </p:nvSpPr>
        <p:spPr>
          <a:xfrm>
            <a:off x="6081120" y="2075040"/>
            <a:ext cx="19382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333333"/>
                </a:solidFill>
                <a:latin typeface="Roboto"/>
                <a:ea typeface="Roboto"/>
              </a:rPr>
              <a:t>Поле для текста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F176B90-E570-4AE3-9B8B-7AFCC0C904D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77;p19" descr=""/>
          <p:cNvPicPr/>
          <p:nvPr/>
        </p:nvPicPr>
        <p:blipFill>
          <a:blip r:embed="rId3"/>
          <a:stretch/>
        </p:blipFill>
        <p:spPr>
          <a:xfrm>
            <a:off x="922680" y="1821240"/>
            <a:ext cx="1642320" cy="75456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44" name="Google Shape;78;p19" descr=""/>
          <p:cNvPicPr/>
          <p:nvPr/>
        </p:nvPicPr>
        <p:blipFill>
          <a:blip r:embed="rId4"/>
          <a:stretch/>
        </p:blipFill>
        <p:spPr>
          <a:xfrm>
            <a:off x="2768400" y="1821240"/>
            <a:ext cx="1642320" cy="75456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45" name="Google Shape;79;p19" descr=""/>
          <p:cNvPicPr/>
          <p:nvPr/>
        </p:nvPicPr>
        <p:blipFill>
          <a:blip r:embed="rId5"/>
          <a:stretch/>
        </p:blipFill>
        <p:spPr>
          <a:xfrm>
            <a:off x="4527720" y="1821240"/>
            <a:ext cx="1642320" cy="75456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46" name="Google Shape;80;p19" descr=""/>
          <p:cNvPicPr/>
          <p:nvPr/>
        </p:nvPicPr>
        <p:blipFill>
          <a:blip r:embed="rId6"/>
          <a:stretch/>
        </p:blipFill>
        <p:spPr>
          <a:xfrm>
            <a:off x="6347160" y="1821240"/>
            <a:ext cx="1642320" cy="75456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sp>
        <p:nvSpPr>
          <p:cNvPr id="47" name="Google Shape;81;p19"/>
          <p:cNvSpPr/>
          <p:nvPr/>
        </p:nvSpPr>
        <p:spPr>
          <a:xfrm>
            <a:off x="1212840" y="1944720"/>
            <a:ext cx="1062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82;p19"/>
          <p:cNvSpPr/>
          <p:nvPr/>
        </p:nvSpPr>
        <p:spPr>
          <a:xfrm>
            <a:off x="3058560" y="1944720"/>
            <a:ext cx="1062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83;p19"/>
          <p:cNvSpPr/>
          <p:nvPr/>
        </p:nvSpPr>
        <p:spPr>
          <a:xfrm>
            <a:off x="4817880" y="1944720"/>
            <a:ext cx="1062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84;p19"/>
          <p:cNvSpPr/>
          <p:nvPr/>
        </p:nvSpPr>
        <p:spPr>
          <a:xfrm>
            <a:off x="6637320" y="1944720"/>
            <a:ext cx="1062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85;p19"/>
          <p:cNvSpPr/>
          <p:nvPr/>
        </p:nvSpPr>
        <p:spPr>
          <a:xfrm>
            <a:off x="982800" y="3241440"/>
            <a:ext cx="152244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Google Shape;86;p19"/>
          <p:cNvSpPr/>
          <p:nvPr/>
        </p:nvSpPr>
        <p:spPr>
          <a:xfrm>
            <a:off x="2828520" y="3241440"/>
            <a:ext cx="152244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Google Shape;87;p19"/>
          <p:cNvSpPr/>
          <p:nvPr/>
        </p:nvSpPr>
        <p:spPr>
          <a:xfrm>
            <a:off x="4587840" y="3241440"/>
            <a:ext cx="152244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88;p19"/>
          <p:cNvSpPr/>
          <p:nvPr/>
        </p:nvSpPr>
        <p:spPr>
          <a:xfrm>
            <a:off x="6406920" y="3241440"/>
            <a:ext cx="152244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7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Google Shape;91;p20"/>
          <p:cNvGraphicFramePr/>
          <p:nvPr/>
        </p:nvGraphicFramePr>
        <p:xfrm>
          <a:off x="655560" y="1745640"/>
          <a:ext cx="8209800" cy="1494720"/>
        </p:xfrm>
        <a:graphic>
          <a:graphicData uri="http://schemas.openxmlformats.org/drawingml/2006/table">
            <a:tbl>
              <a:tblPr/>
              <a:tblGrid>
                <a:gridCol w="3800160"/>
                <a:gridCol w="4410000"/>
              </a:tblGrid>
              <a:tr h="4788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1001"/>
                        </a:spcAft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1. Описание эксперимента</a:t>
                      </a:r>
                      <a:r>
                        <a:rPr b="1" lang="ru" sz="17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 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1001"/>
                        </a:spcAft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2. Технические детали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015920">
                <a:tc>
                  <a:txBody>
                    <a:bodyPr lIns="91080" rIns="91080" anchor="t">
                      <a:noAutofit/>
                    </a:bodyPr>
                    <a:p>
                      <a:pPr marL="457200" indent="-324000">
                        <a:lnSpc>
                          <a:spcPct val="114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   </a:t>
                      </a: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Гипотеза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4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   </a:t>
                      </a: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Целевая аудитория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4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   </a:t>
                      </a: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Ожидаемый результат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17520">
                        <a:lnSpc>
                          <a:spcPct val="114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7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 </a:t>
                      </a: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Реализация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4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 </a:t>
                      </a: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Настройки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4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 </a:t>
                      </a:r>
                      <a:r>
                        <a:rPr b="0" lang="ru" sz="15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Метрики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93;p21"/>
          <p:cNvSpPr/>
          <p:nvPr/>
        </p:nvSpPr>
        <p:spPr>
          <a:xfrm>
            <a:off x="556200" y="4554000"/>
            <a:ext cx="42393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4240" bIns="842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chemeClr val="dk1"/>
                </a:solidFill>
                <a:latin typeface="Roboto"/>
                <a:ea typeface="Roboto"/>
              </a:rPr>
              <a:t>добавьте ссылку на источник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Google Shape;98;p23"/>
          <p:cNvGraphicFramePr/>
          <p:nvPr/>
        </p:nvGraphicFramePr>
        <p:xfrm>
          <a:off x="608760" y="1593720"/>
          <a:ext cx="7959960" cy="2806560"/>
        </p:xfrm>
        <a:graphic>
          <a:graphicData uri="http://schemas.openxmlformats.org/drawingml/2006/table">
            <a:tbl>
              <a:tblPr/>
              <a:tblGrid>
                <a:gridCol w="395640"/>
                <a:gridCol w="2403360"/>
                <a:gridCol w="2684520"/>
                <a:gridCol w="2476800"/>
              </a:tblGrid>
              <a:tr h="705960">
                <a:tc>
                  <a:txBody>
                    <a:bodyPr lIns="91080" rIns="91080" anchor="ctr">
                      <a:noAutofit/>
                    </a:bodyPr>
                    <a:p>
                      <a:endParaRPr b="1" lang="en-US" sz="1600" spc="-1" strike="noStrike">
                        <a:solidFill>
                          <a:srgbClr val="4811c5"/>
                        </a:solidFill>
                        <a:latin typeface="Roboto"/>
                        <a:ea typeface="Roboto"/>
                      </a:endParaRPr>
                    </a:p>
                  </a:txBody>
                  <a:tcPr anchor="ctr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Название столбца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Название столбца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Название столбца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3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3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3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pc="-1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</a:rPr>
                        <a:t>5.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000000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01;p24"/>
          <p:cNvSpPr/>
          <p:nvPr/>
        </p:nvSpPr>
        <p:spPr>
          <a:xfrm>
            <a:off x="791640" y="1039320"/>
            <a:ext cx="3639960" cy="70524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Roboto"/>
              <a:ea typeface="Roboto"/>
            </a:endParaRPr>
          </a:p>
        </p:txBody>
      </p:sp>
      <p:sp>
        <p:nvSpPr>
          <p:cNvPr id="65" name="Google Shape;102;p24"/>
          <p:cNvSpPr/>
          <p:nvPr/>
        </p:nvSpPr>
        <p:spPr>
          <a:xfrm>
            <a:off x="791640" y="1904760"/>
            <a:ext cx="3639960" cy="70524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Roboto"/>
              <a:ea typeface="Roboto"/>
            </a:endParaRPr>
          </a:p>
        </p:txBody>
      </p:sp>
      <p:sp>
        <p:nvSpPr>
          <p:cNvPr id="66" name="Google Shape;103;p24"/>
          <p:cNvSpPr/>
          <p:nvPr/>
        </p:nvSpPr>
        <p:spPr>
          <a:xfrm>
            <a:off x="791640" y="2770560"/>
            <a:ext cx="3639960" cy="70524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Roboto"/>
              <a:ea typeface="Roboto"/>
            </a:endParaRPr>
          </a:p>
        </p:txBody>
      </p:sp>
      <p:sp>
        <p:nvSpPr>
          <p:cNvPr id="67" name="Google Shape;104;p24"/>
          <p:cNvSpPr/>
          <p:nvPr/>
        </p:nvSpPr>
        <p:spPr>
          <a:xfrm>
            <a:off x="791640" y="3636360"/>
            <a:ext cx="3639960" cy="70524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Roboto"/>
              <a:ea typeface="Roboto"/>
            </a:endParaRPr>
          </a:p>
        </p:txBody>
      </p:sp>
      <p:sp>
        <p:nvSpPr>
          <p:cNvPr id="68" name="Google Shape;105;p24"/>
          <p:cNvSpPr/>
          <p:nvPr/>
        </p:nvSpPr>
        <p:spPr>
          <a:xfrm>
            <a:off x="5533920" y="1409040"/>
            <a:ext cx="2468160" cy="246816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240F878-6367-4AAB-B478-120C7A02562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C7D638E-DEAC-483F-98EF-D98CFDCF810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B06CC7F-BE96-4386-AD37-4929DB2219C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29;p31"/>
          <p:cNvSpPr/>
          <p:nvPr/>
        </p:nvSpPr>
        <p:spPr>
          <a:xfrm>
            <a:off x="606240" y="1441080"/>
            <a:ext cx="7938000" cy="356436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35;p33"/>
          <p:cNvSpPr/>
          <p:nvPr/>
        </p:nvSpPr>
        <p:spPr>
          <a:xfrm>
            <a:off x="590400" y="1365120"/>
            <a:ext cx="7987680" cy="3411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40;p34"/>
          <p:cNvSpPr/>
          <p:nvPr/>
        </p:nvSpPr>
        <p:spPr>
          <a:xfrm>
            <a:off x="606240" y="2144160"/>
            <a:ext cx="7938000" cy="246384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47;p35"/>
          <p:cNvSpPr/>
          <p:nvPr/>
        </p:nvSpPr>
        <p:spPr>
          <a:xfrm>
            <a:off x="787320" y="1031040"/>
            <a:ext cx="759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4000" spc="-1" strike="noStrike">
                <a:solidFill>
                  <a:schemeClr val="lt1"/>
                </a:solidFill>
                <a:latin typeface="Roboto"/>
                <a:ea typeface="Roboto"/>
              </a:rPr>
              <a:t>Консольный мессенджер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Google Shape;148;p35" descr=""/>
          <p:cNvPicPr/>
          <p:nvPr/>
        </p:nvPicPr>
        <p:blipFill>
          <a:blip r:embed="rId1"/>
          <a:stretch/>
        </p:blipFill>
        <p:spPr>
          <a:xfrm>
            <a:off x="7913880" y="268920"/>
            <a:ext cx="821520" cy="28404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149;p35"/>
          <p:cNvSpPr/>
          <p:nvPr/>
        </p:nvSpPr>
        <p:spPr>
          <a:xfrm>
            <a:off x="629640" y="4138200"/>
            <a:ext cx="2919960" cy="42588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Roboto"/>
              <a:ea typeface="Roboto"/>
            </a:endParaRPr>
          </a:p>
        </p:txBody>
      </p:sp>
      <p:sp>
        <p:nvSpPr>
          <p:cNvPr id="80" name="Google Shape;150;p35"/>
          <p:cNvSpPr/>
          <p:nvPr/>
        </p:nvSpPr>
        <p:spPr>
          <a:xfrm>
            <a:off x="629640" y="4127400"/>
            <a:ext cx="29221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ffffff"/>
                </a:solidFill>
                <a:latin typeface="Roboto Medium"/>
                <a:ea typeface="Roboto Medium"/>
              </a:rPr>
              <a:t>С++ Developer. Professional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Google Shape;151;p35" descr=""/>
          <p:cNvPicPr/>
          <p:nvPr/>
        </p:nvPicPr>
        <p:blipFill>
          <a:blip r:embed="rId2"/>
          <a:stretch/>
        </p:blipFill>
        <p:spPr>
          <a:xfrm>
            <a:off x="7409880" y="3083760"/>
            <a:ext cx="1547640" cy="166860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3"/>
          <a:stretch/>
        </p:blipFill>
        <p:spPr>
          <a:xfrm>
            <a:off x="7916760" y="268920"/>
            <a:ext cx="831240" cy="293400"/>
          </a:xfrm>
          <a:prstGeom prst="rect">
            <a:avLst/>
          </a:prstGeom>
          <a:ln w="0">
            <a:noFill/>
          </a:ln>
        </p:spPr>
      </p:pic>
      <p:pic>
        <p:nvPicPr>
          <p:cNvPr id="83" name="Google Shape;221;p43" descr=""/>
          <p:cNvPicPr/>
          <p:nvPr/>
        </p:nvPicPr>
        <p:blipFill>
          <a:blip r:embed="rId4"/>
          <a:stretch/>
        </p:blipFill>
        <p:spPr>
          <a:xfrm>
            <a:off x="0" y="0"/>
            <a:ext cx="9215280" cy="514296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148;p35" descr=""/>
          <p:cNvPicPr/>
          <p:nvPr/>
        </p:nvPicPr>
        <p:blipFill>
          <a:blip r:embed="rId5"/>
          <a:stretch/>
        </p:blipFill>
        <p:spPr>
          <a:xfrm>
            <a:off x="8066160" y="421200"/>
            <a:ext cx="821520" cy="284040"/>
          </a:xfrm>
          <a:prstGeom prst="rect">
            <a:avLst/>
          </a:prstGeom>
          <a:ln w="0">
            <a:noFill/>
          </a:ln>
        </p:spPr>
      </p:pic>
      <p:pic>
        <p:nvPicPr>
          <p:cNvPr id="85" name="Google Shape;151;p35" descr=""/>
          <p:cNvPicPr/>
          <p:nvPr/>
        </p:nvPicPr>
        <p:blipFill>
          <a:blip r:embed="rId6"/>
          <a:stretch/>
        </p:blipFill>
        <p:spPr>
          <a:xfrm>
            <a:off x="7562160" y="3236040"/>
            <a:ext cx="1547640" cy="1668600"/>
          </a:xfrm>
          <a:prstGeom prst="rect">
            <a:avLst/>
          </a:prstGeom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732960" y="4351320"/>
            <a:ext cx="260748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ffffff"/>
                </a:solidFill>
                <a:latin typeface="Roboto Medium"/>
                <a:ea typeface="Roboto Medium"/>
              </a:rPr>
              <a:t>С++ Developer. Professional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32960" y="1200960"/>
            <a:ext cx="683028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4200" spc="-1" strike="noStrike">
                <a:solidFill>
                  <a:schemeClr val="lt1"/>
                </a:solidFill>
                <a:latin typeface="Roboto"/>
                <a:ea typeface="Roboto"/>
              </a:rPr>
              <a:t>Консольный мессенджер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44120" y="1422720"/>
            <a:ext cx="7934760" cy="140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chemeClr val="dk1"/>
                </a:solidFill>
                <a:latin typeface="Roboto"/>
                <a:ea typeface="Roboto"/>
              </a:rPr>
              <a:t>Меня хорошо видно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chemeClr val="dk1"/>
                </a:solidFill>
                <a:latin typeface="Roboto"/>
                <a:ea typeface="Roboto"/>
              </a:rPr>
              <a:t>&amp; слышно?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Google Shape;157;p36" descr=""/>
          <p:cNvPicPr/>
          <p:nvPr/>
        </p:nvPicPr>
        <p:blipFill>
          <a:blip r:embed="rId1"/>
          <a:stretch/>
        </p:blipFill>
        <p:spPr>
          <a:xfrm>
            <a:off x="1544040" y="3841200"/>
            <a:ext cx="545040" cy="545040"/>
          </a:xfrm>
          <a:prstGeom prst="rect">
            <a:avLst/>
          </a:prstGeom>
          <a:ln w="0">
            <a:noFill/>
          </a:ln>
        </p:spPr>
      </p:pic>
      <p:pic>
        <p:nvPicPr>
          <p:cNvPr id="90" name="Google Shape;158;p36" descr=""/>
          <p:cNvPicPr/>
          <p:nvPr/>
        </p:nvPicPr>
        <p:blipFill>
          <a:blip r:embed="rId2"/>
          <a:stretch/>
        </p:blipFill>
        <p:spPr>
          <a:xfrm>
            <a:off x="825480" y="3890880"/>
            <a:ext cx="536400" cy="53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85;p39"/>
          <p:cNvSpPr/>
          <p:nvPr/>
        </p:nvSpPr>
        <p:spPr>
          <a:xfrm>
            <a:off x="560520" y="324720"/>
            <a:ext cx="8519760" cy="13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Цель и задачи проекта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2" name="Google Shape;186;p39"/>
          <p:cNvGraphicFramePr/>
          <p:nvPr/>
        </p:nvGraphicFramePr>
        <p:xfrm>
          <a:off x="952560" y="1833840"/>
          <a:ext cx="7238160" cy="281664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Анализ и проектирование</a:t>
                      </a: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:  определение требований к клиенту и серверу, разработка архитектуры взаимодействия (клиент ↔ сервер ↔ БД), выбор стека технологий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Разработка серверной части</a:t>
                      </a:r>
                      <a:r>
                        <a:rPr b="0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: реализация TCP-сервера, приём и обработка подключений нескольких клиентов одновременно, механизм рассылки сообщений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Разработка клиентской части</a:t>
                      </a:r>
                      <a:r>
                        <a:rPr b="0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: реализация TCP-клиента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434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Интеграция SQLite3</a:t>
                      </a:r>
                      <a:r>
                        <a:rPr b="0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 для хранения истории сообщений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5.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Тестирование и отладка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3" name="Google Shape;187;p39"/>
          <p:cNvSpPr/>
          <p:nvPr/>
        </p:nvSpPr>
        <p:spPr>
          <a:xfrm>
            <a:off x="1341360" y="978120"/>
            <a:ext cx="6470280" cy="6613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chemeClr val="dk1"/>
                </a:solidFill>
                <a:latin typeface="Roboto Medium"/>
                <a:ea typeface="Roboto Medium"/>
              </a:rPr>
              <a:t>Цель проекта: разработать консольный мессенджер с архитектурой клиент-сервер для обмена публичными и приватными сообщениями с сохранением истории в базе данных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Какие технологии использовались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5" name="Google Shape;199;p40"/>
          <p:cNvGraphicFramePr/>
          <p:nvPr/>
        </p:nvGraphicFramePr>
        <p:xfrm>
          <a:off x="952560" y="1897920"/>
          <a:ext cx="7238160" cy="190440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Язык: С++ 17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Сеть: Boost.Asio 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БД: SQLite3 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Boost.Test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endParaRPr b="0" lang="en-US" sz="1600" spc="-1" strike="noStrike">
                        <a:solidFill>
                          <a:srgbClr val="9857f3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Архитектура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373;p54"/>
          <p:cNvSpPr/>
          <p:nvPr/>
        </p:nvSpPr>
        <p:spPr>
          <a:xfrm>
            <a:off x="600480" y="438840"/>
            <a:ext cx="665136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en-US" sz="3100" spc="-1" strike="noStrike">
              <a:solidFill>
                <a:schemeClr val="dk1"/>
              </a:solidFill>
              <a:latin typeface="Roboto"/>
              <a:ea typeface="Roboto"/>
            </a:endParaRPr>
          </a:p>
        </p:txBody>
      </p:sp>
      <p:sp>
        <p:nvSpPr>
          <p:cNvPr id="98" name=""/>
          <p:cNvSpPr/>
          <p:nvPr/>
        </p:nvSpPr>
        <p:spPr>
          <a:xfrm>
            <a:off x="7078680" y="1517040"/>
            <a:ext cx="95760" cy="3848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4285f4"/>
          </a:solidFill>
          <a:ln>
            <a:solidFill>
              <a:srgbClr val="3062b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7069680" y="3131280"/>
            <a:ext cx="95760" cy="3848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4285f4"/>
          </a:solidFill>
          <a:ln>
            <a:solidFill>
              <a:srgbClr val="3062b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0" name="Google Shape;375;p54"/>
          <p:cNvSpPr/>
          <p:nvPr/>
        </p:nvSpPr>
        <p:spPr>
          <a:xfrm>
            <a:off x="5911560" y="285480"/>
            <a:ext cx="2430000" cy="11858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             </a:t>
            </a: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Клиенты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      </a:t>
            </a: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(отправка / прием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           </a:t>
            </a: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сообщений)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375;p54"/>
          <p:cNvSpPr/>
          <p:nvPr/>
        </p:nvSpPr>
        <p:spPr>
          <a:xfrm>
            <a:off x="5911560" y="1857600"/>
            <a:ext cx="2430000" cy="127296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                </a:t>
            </a: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Сервер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(TCP, многопоточность)</a:t>
            </a: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375;p54"/>
          <p:cNvSpPr/>
          <p:nvPr/>
        </p:nvSpPr>
        <p:spPr>
          <a:xfrm>
            <a:off x="5990400" y="3517200"/>
            <a:ext cx="2351160" cy="12902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               </a:t>
            </a: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SQLite3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      </a:t>
            </a:r>
            <a:r>
              <a:rPr b="0" lang="en-US" sz="1400" spc="-1" strike="noStrike">
                <a:solidFill>
                  <a:schemeClr val="lt1"/>
                </a:solidFill>
                <a:latin typeface="Roboto Medium"/>
                <a:ea typeface="Roboto Medium"/>
              </a:rPr>
              <a:t>(хранение истории)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754200" y="3324240"/>
            <a:ext cx="367524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Функционал: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Публичные сообщения → всем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Приватные (@username) → конкретному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quit/q → выход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История → последние 10 сообщений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64440" y="952200"/>
            <a:ext cx="4690800" cy="3538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91440" bIns="91440" anchor="t">
            <a:normAutofit fontScale="96666" lnSpcReduction="10000"/>
          </a:bodyPr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ff"/>
                </a:solidFill>
                <a:latin typeface="Droid Sans Mono"/>
                <a:ea typeface="Droid Sans Mono"/>
              </a:rPr>
              <a:t>void Client::SendMessages()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std::string message;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while(std::getline(std::cin, message))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Пропускаем пустые сообщения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if (message.empty()) continue;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boost::asio::write(*socket_, boost::asio::buffer(message + "\n"));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if(is_quit(message)) 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std::cout &lt;&lt; "Disconnecting..." &lt;&lt; std::endl;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break;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   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socket_-&gt;close();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373;p54"/>
          <p:cNvSpPr/>
          <p:nvPr/>
        </p:nvSpPr>
        <p:spPr>
          <a:xfrm>
            <a:off x="630360" y="210240"/>
            <a:ext cx="77857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Клиент - потоки приема и отправки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20;p5"/>
          <p:cNvSpPr/>
          <p:nvPr/>
        </p:nvSpPr>
        <p:spPr>
          <a:xfrm>
            <a:off x="4523400" y="952200"/>
            <a:ext cx="4690800" cy="35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91440" bIns="91440" anchor="t">
            <a:normAutofit fontScale="96666" lnSpcReduction="10000"/>
          </a:bodyPr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ff"/>
                </a:solidFill>
                <a:latin typeface="Droid Sans Mono"/>
                <a:ea typeface="Droid Sans Mono"/>
              </a:rPr>
              <a:t>void Client::ReceiveMessages()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std::array&lt;char, 1024&gt; buffer;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boost::system::error_code error;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for (;;)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size_t len = socket_-&gt;read_some(boost::asio::buffer(buffer), error);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if (error) 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std::cout &lt;&lt; "ERROR!" &lt;&lt; error &lt;&lt; std::endl;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break;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Выводим полученное сообщение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std::cout &lt;&lt; std::string(buffer.data(), len) &lt;&lt; std::endl;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Сервер – архитектура и многопоточность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0400" y="123768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91440" bIns="91440" anchor="t">
            <a:normAutofit fontScale="75000"/>
          </a:bodyPr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Глобальные структуры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std::vector&lt;clientInfo&gt; clients;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std::mutex clients_mutex;</a:t>
            </a:r>
            <a:br>
              <a:rPr sz="1100"/>
            </a:b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Основной цикл сервера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ff"/>
                </a:solidFill>
                <a:latin typeface="Droid Sans Mono"/>
                <a:ea typeface="Droid Sans Mono"/>
              </a:rPr>
              <a:t>void server_run(int port) 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tcp::acceptor acceptor(io_context, tcp::endpoint(tcp::v4(), port));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while (true) 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auto socket = std::make_shared&lt;tcp::socket&gt;(io_context);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acceptor.accept(*socket);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Каждый клиент в отдельном потоке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std::thread client_thread(handle_client, socket);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client_thread.detach();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/>
          </p:nvPr>
        </p:nvSpPr>
        <p:spPr>
          <a:xfrm>
            <a:off x="563400" y="1040760"/>
            <a:ext cx="4325760" cy="3415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91440" bIns="91440" anchor="t">
            <a:normAutofit/>
          </a:bodyPr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ff"/>
                </a:solidFill>
                <a:latin typeface="Droid Sans Mono"/>
                <a:ea typeface="Droid Sans Mono"/>
              </a:rPr>
              <a:t>void handle_client(std::shared_ptr&lt;tcp::socket&gt; socket)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1. Читаем имя пользователя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std::string username = read_username(socket);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2. Добавляем клиента в общий список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std::lock_guard&lt;std::mutex&gt; lock(clients_mutex);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clients.push_back({socket, username});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3. Основной цикл обработки сообщений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while (true)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std::string message = read_message(socket);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373;p54"/>
          <p:cNvSpPr/>
          <p:nvPr/>
        </p:nvSpPr>
        <p:spPr>
          <a:xfrm>
            <a:off x="630360" y="210240"/>
            <a:ext cx="715608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Сервер – обработка клиента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20;p5"/>
          <p:cNvSpPr/>
          <p:nvPr/>
        </p:nvSpPr>
        <p:spPr>
          <a:xfrm>
            <a:off x="4779720" y="809640"/>
            <a:ext cx="4325760" cy="35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91440" bIns="91440" anchor="t">
            <a:normAutofit fontScale="81111"/>
          </a:bodyPr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if (message[0] == '@') {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        </a:t>
            </a:r>
            <a:r>
              <a:rPr b="0" lang="en-US" sz="10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Приватное сообщение — ищем получателя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std::string target_username = message.substr(1, space_pos - 1);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std::string private_message = message.substr(space_pos + 1);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else if (is_quit(message)) {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        </a:t>
            </a:r>
            <a:r>
              <a:rPr b="0" lang="en-US" sz="10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Выход — удаляем клиента из списка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remove_client(username);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break;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else {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        </a:t>
            </a:r>
            <a:r>
              <a:rPr b="0" lang="en-US" sz="100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Публичное сообщение — рассылаем всем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broadcast_message(username, message);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3200">
              <a:lnSpc>
                <a:spcPct val="120000"/>
              </a:lnSpc>
              <a:spcBef>
                <a:spcPts val="298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/>
          </p:nvPr>
        </p:nvSpPr>
        <p:spPr>
          <a:xfrm>
            <a:off x="500400" y="1200960"/>
            <a:ext cx="4680000" cy="3641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91440" bIns="91440" anchor="t">
            <a:normAutofit fontScale="87222"/>
          </a:bodyPr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Схема таблицы messages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ff"/>
                </a:solidFill>
                <a:latin typeface="Droid Sans Mono"/>
                <a:ea typeface="Droid Sans Mono"/>
              </a:rPr>
              <a:t>const char* create_table_sql =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"CREATE TABLE IF NOT EXISTS messages ("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"id INTEGER PRIMARY KEY AUTOINCREMENT,"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"timestamp DATETIME DEFAULT CURRENT_TIMESTAMP,"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"from_user TEXT NOT NULL,"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"to_user TEXT,"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"message TEXT NOT NULL,"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"is_private INTEGER DEFAULT 0);";</a:t>
            </a:r>
            <a:br>
              <a:rPr sz="1050"/>
            </a:b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Инициализация БД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b91af"/>
                </a:solidFill>
                <a:latin typeface="Droid Sans Mono"/>
                <a:ea typeface="Droid Sans Mono"/>
              </a:rPr>
              <a:t>sqlite3* database_init()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sqlite3* db = nullptr;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sqlite3_open("messenger.db", &amp;db);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execute_sql(create_table_sql, db);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return db;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373;p54"/>
          <p:cNvSpPr/>
          <p:nvPr/>
        </p:nvSpPr>
        <p:spPr>
          <a:xfrm>
            <a:off x="630360" y="210240"/>
            <a:ext cx="665136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База данных – инициализация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База данных - сохранение и загрузка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63600" y="1067040"/>
            <a:ext cx="8467920" cy="386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91440" bIns="91440" anchor="t">
            <a:normAutofit fontScale="87222"/>
          </a:bodyPr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Сохранение сообщения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ff"/>
                </a:solidFill>
                <a:latin typeface="Droid Sans Mono"/>
                <a:ea typeface="Droid Sans Mono"/>
              </a:rPr>
              <a:t>void save_message(const std::string&amp; from, const std::string&amp; to,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const std::string&amp; msg, bool is_private, sqlite3* db) 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const char* sql = "INSERT INTO messages (from_user, to_user,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                              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message, is_private) VALUES (?, ?, ?, ?);";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sqlite3_stmt* stmt;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sqlite3_prepare_v2(db, sql, -1, &amp;stmt, nullptr);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sqlite3_bind_text(stmt, 1, from.c_str(), -1, SQLITE_STATIC);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if (to.empty()) sqlite3_bind_null(stmt, 2);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else sqlite3_bind_text(stmt, 2, to.c_str(), -1, SQLITE_STATIC);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sqlite3_bind_text(stmt, 3, msg.c_str(), -1, SQLITE_STATIC);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sqlite3_bind_int(stmt, 4, is_private ? 1 : 0);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sqlite3_step(stmt);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sqlite3_finalize(stmt);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33200" indent="0">
              <a:lnSpc>
                <a:spcPct val="120000"/>
              </a:lnSpc>
              <a:spcBef>
                <a:spcPts val="298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761000" y="1248480"/>
            <a:ext cx="4358160" cy="1688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Загрузка истории для нового клиента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ff"/>
                </a:solidFill>
                <a:latin typeface="Droid Sans Mono"/>
                <a:ea typeface="Droid Sans Mono"/>
              </a:rPr>
              <a:t>void load_messages(const std::string&amp; username, std::shared_ptr&lt;tcp::socket&gt; socket,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           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sqlite3* db, int limit)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const char* sql = "SELECT from_user, message, timestamp, is_private FROM messages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a31515"/>
                </a:solidFill>
                <a:latin typeface="Droid Sans Mono"/>
                <a:ea typeface="Droid Sans Mono"/>
              </a:rPr>
              <a:t>               </a:t>
            </a:r>
            <a:r>
              <a:rPr b="0" lang="en-US" sz="1050" spc="-1" strike="noStrike">
                <a:solidFill>
                  <a:srgbClr val="a31515"/>
                </a:solidFill>
                <a:latin typeface="Droid Sans Mono"/>
                <a:ea typeface="Droid Sans Mono"/>
              </a:rPr>
              <a:t>WHERE to_user IS NULL OR to_user = ? OR from_user = ?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a31515"/>
                </a:solidFill>
                <a:latin typeface="Droid Sans Mono"/>
                <a:ea typeface="Droid Sans Mono"/>
              </a:rPr>
              <a:t>                 </a:t>
            </a:r>
            <a:r>
              <a:rPr b="0" lang="en-US" sz="1050" spc="-1" strike="noStrike">
                <a:solidFill>
                  <a:srgbClr val="a31515"/>
                </a:solidFill>
                <a:latin typeface="Droid Sans Mono"/>
                <a:ea typeface="Droid Sans Mono"/>
              </a:rPr>
              <a:t>ORDER BY timestamp DESC LIMIT ?;";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    </a:t>
            </a:r>
            <a:r>
              <a:rPr b="0" lang="en-US" sz="1050" spc="-1" strike="noStrike">
                <a:solidFill>
                  <a:srgbClr val="008000"/>
                </a:solidFill>
                <a:latin typeface="Droid Sans Mono"/>
                <a:ea typeface="Droid Sans Mono"/>
              </a:rPr>
              <a:t>// ... отправка истории клиенту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Droid Sans Mono"/>
                <a:ea typeface="Droid Sans Mono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                      </a:t>
            </a: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Запуск сервера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1629360" y="878760"/>
            <a:ext cx="5870880" cy="426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         </a:t>
            </a: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Подключение первого клиента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-70920" y="878760"/>
            <a:ext cx="6802200" cy="3346560"/>
          </a:xfrm>
          <a:prstGeom prst="rect">
            <a:avLst/>
          </a:prstGeom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2720520" y="2522880"/>
            <a:ext cx="6692040" cy="261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        </a:t>
            </a: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Отправка публичных сообщений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0" y="2306880"/>
            <a:ext cx="6085800" cy="299376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-63360" y="744120"/>
            <a:ext cx="6726240" cy="230616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3"/>
          <a:stretch/>
        </p:blipFill>
        <p:spPr>
          <a:xfrm>
            <a:off x="3371400" y="1096560"/>
            <a:ext cx="5936400" cy="224712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4"/>
          <a:stretch/>
        </p:blipFill>
        <p:spPr>
          <a:xfrm>
            <a:off x="3182400" y="3111120"/>
            <a:ext cx="6709320" cy="218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     </a:t>
            </a: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Отправка приватных сообщений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393480" y="809640"/>
            <a:ext cx="7526520" cy="245628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2"/>
          <a:stretch/>
        </p:blipFill>
        <p:spPr>
          <a:xfrm>
            <a:off x="393480" y="2864160"/>
            <a:ext cx="7019640" cy="240696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3"/>
          <a:stretch/>
        </p:blipFill>
        <p:spPr>
          <a:xfrm>
            <a:off x="3623760" y="1647000"/>
            <a:ext cx="6428880" cy="243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     </a:t>
            </a: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Загрузка истории при подключении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346320" y="943560"/>
            <a:ext cx="6361560" cy="3129480"/>
          </a:xfrm>
          <a:prstGeom prst="rect">
            <a:avLst/>
          </a:prstGeom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2603880" y="2007360"/>
            <a:ext cx="6282720" cy="300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                    </a:t>
            </a: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Команда выхода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449280" y="809640"/>
            <a:ext cx="6341040" cy="3029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2057040" y="2660400"/>
            <a:ext cx="6877080" cy="23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                  </a:t>
            </a:r>
            <a:r>
              <a:rPr b="1" lang="en-US" sz="3100" spc="-1" strike="noStrike">
                <a:solidFill>
                  <a:schemeClr val="dk1"/>
                </a:solidFill>
                <a:latin typeface="Roboto"/>
                <a:ea typeface="Roboto"/>
              </a:rPr>
              <a:t>Команда выхода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500400" y="2666160"/>
            <a:ext cx="6543000" cy="2476800"/>
          </a:xfrm>
          <a:prstGeom prst="rect">
            <a:avLst/>
          </a:prstGeom>
          <a:ln w="0">
            <a:noFill/>
          </a:ln>
        </p:spPr>
      </p:pic>
      <p:pic>
        <p:nvPicPr>
          <p:cNvPr id="139" name="" descr=""/>
          <p:cNvPicPr/>
          <p:nvPr/>
        </p:nvPicPr>
        <p:blipFill>
          <a:blip r:embed="rId2"/>
          <a:stretch/>
        </p:blipFill>
        <p:spPr>
          <a:xfrm>
            <a:off x="434160" y="809640"/>
            <a:ext cx="7503480" cy="244872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3"/>
          <a:stretch/>
        </p:blipFill>
        <p:spPr>
          <a:xfrm>
            <a:off x="4298400" y="809640"/>
            <a:ext cx="4628520" cy="410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400" spc="-1" strike="noStrike">
                <a:solidFill>
                  <a:schemeClr val="dk1"/>
                </a:solidFill>
                <a:latin typeface="Roboto"/>
                <a:ea typeface="Roboto"/>
              </a:rPr>
              <a:t>Выводы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2" name="Google Shape;213;p42"/>
          <p:cNvGraphicFramePr/>
          <p:nvPr/>
        </p:nvGraphicFramePr>
        <p:xfrm>
          <a:off x="883440" y="1136160"/>
          <a:ext cx="7357680" cy="3161520"/>
        </p:xfrm>
        <a:graphic>
          <a:graphicData uri="http://schemas.openxmlformats.org/drawingml/2006/table">
            <a:tbl>
              <a:tblPr/>
              <a:tblGrid>
                <a:gridCol w="497160"/>
                <a:gridCol w="6860880"/>
              </a:tblGrid>
              <a:tr h="48456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Цель достигнута — разработан консольный мессенджер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156276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Все задачи выполнены: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 </a:t>
                      </a:r>
                      <a:r>
                        <a:rPr b="0" lang="en-US" sz="12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-  Многопоточный сервер (поток на клиента)     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 </a:t>
                      </a:r>
                      <a:r>
                        <a:rPr b="0" lang="en-US" sz="12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-  Клиент с раздельными потоками (отправка / приём)            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 </a:t>
                      </a:r>
                      <a:r>
                        <a:rPr b="0" lang="en-US" sz="12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-  Публичные и приватные сообщения (@username)                       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 </a:t>
                      </a:r>
                      <a:r>
                        <a:rPr b="0" lang="en-US" sz="12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-  Хранение истории в SQLite3                                         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 </a:t>
                      </a:r>
                      <a:r>
                        <a:rPr b="0" lang="en-US" sz="12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-  Загрузка последних сообщений при подключении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48456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2060"/>
                          </a:solidFill>
                          <a:latin typeface="Roboto"/>
                          <a:ea typeface="Roboto"/>
                        </a:rPr>
                        <a:t>Полезность проекта - 10 из 10 (новый опыт: Boost.Asio, SQLite3, многопоточность)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  <a:tr h="484560">
                <a:tc>
                  <a:txBody>
                    <a:bodyPr lIns="198000" rIns="91080" anchor="t">
                      <a:noAutofit/>
                    </a:bodyPr>
                    <a:p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endParaRPr b="0" lang="en-US" sz="1600" spc="-1" strike="noStrike">
                        <a:solidFill>
                          <a:srgbClr val="9857f3"/>
                        </a:solidFill>
                        <a:latin typeface="Roboto"/>
                        <a:ea typeface="Roboto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221;p43" descr=""/>
          <p:cNvPicPr/>
          <p:nvPr/>
        </p:nvPicPr>
        <p:blipFill>
          <a:blip r:embed="rId1"/>
          <a:stretch/>
        </p:blipFill>
        <p:spPr>
          <a:xfrm>
            <a:off x="0" y="0"/>
            <a:ext cx="9215280" cy="5142960"/>
          </a:xfrm>
          <a:prstGeom prst="rect">
            <a:avLst/>
          </a:prstGeom>
          <a:ln w="0">
            <a:noFill/>
          </a:ln>
        </p:spPr>
      </p:pic>
      <p:sp>
        <p:nvSpPr>
          <p:cNvPr id="144" name="Google Shape;222;p43"/>
          <p:cNvSpPr/>
          <p:nvPr/>
        </p:nvSpPr>
        <p:spPr>
          <a:xfrm>
            <a:off x="387000" y="1844640"/>
            <a:ext cx="7583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4000" spc="-1" strike="noStrike">
                <a:solidFill>
                  <a:schemeClr val="lt1"/>
                </a:solidFill>
                <a:latin typeface="Roboto"/>
                <a:ea typeface="Roboto"/>
              </a:rPr>
              <a:t>Вопросы и рекомендации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223;p43"/>
          <p:cNvSpPr/>
          <p:nvPr/>
        </p:nvSpPr>
        <p:spPr>
          <a:xfrm>
            <a:off x="1214640" y="3061800"/>
            <a:ext cx="1926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если есть вопросы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Google Shape;224;p43"/>
          <p:cNvSpPr/>
          <p:nvPr/>
        </p:nvSpPr>
        <p:spPr>
          <a:xfrm>
            <a:off x="4934880" y="3061800"/>
            <a:ext cx="214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если вопросов нет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225;p43"/>
          <p:cNvSpPr/>
          <p:nvPr/>
        </p:nvSpPr>
        <p:spPr>
          <a:xfrm>
            <a:off x="722880" y="2846520"/>
            <a:ext cx="4910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4300" spc="-1" strike="noStrike">
                <a:solidFill>
                  <a:schemeClr val="lt1"/>
                </a:solidFill>
                <a:latin typeface="Roboto"/>
                <a:ea typeface="Roboto"/>
              </a:rPr>
              <a:t>+</a:t>
            </a:r>
            <a:endParaRPr b="0" lang="en-US" sz="4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226;p43"/>
          <p:cNvSpPr/>
          <p:nvPr/>
        </p:nvSpPr>
        <p:spPr>
          <a:xfrm>
            <a:off x="4443480" y="2846520"/>
            <a:ext cx="491040" cy="14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4300" spc="-1" strike="noStrike">
                <a:solidFill>
                  <a:schemeClr val="lt1"/>
                </a:solidFill>
                <a:latin typeface="Roboto"/>
                <a:ea typeface="Roboto"/>
              </a:rPr>
              <a:t>– </a:t>
            </a:r>
            <a:endParaRPr b="0" lang="en-US" sz="4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234;p44" descr=""/>
          <p:cNvPicPr/>
          <p:nvPr/>
        </p:nvPicPr>
        <p:blipFill>
          <a:blip r:embed="rId1"/>
          <a:stretch/>
        </p:blipFill>
        <p:spPr>
          <a:xfrm>
            <a:off x="0" y="0"/>
            <a:ext cx="9215280" cy="5142960"/>
          </a:xfrm>
          <a:prstGeom prst="rect">
            <a:avLst/>
          </a:prstGeom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28920" y="1932480"/>
            <a:ext cx="7294320" cy="195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5000" spc="-1" strike="noStrike">
                <a:solidFill>
                  <a:schemeClr val="lt1"/>
                </a:solidFill>
                <a:latin typeface="Roboto"/>
                <a:ea typeface="Roboto"/>
              </a:rPr>
              <a:t>Спасибо за внимание!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oogle Shape;236;p44" descr=""/>
          <p:cNvPicPr/>
          <p:nvPr/>
        </p:nvPicPr>
        <p:blipFill>
          <a:blip r:embed="rId2"/>
          <a:stretch/>
        </p:blipFill>
        <p:spPr>
          <a:xfrm>
            <a:off x="6727320" y="231840"/>
            <a:ext cx="2270160" cy="304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2026-04-28T20:37:40Z</cp:lastPrinted>
  <dcterms:modified xsi:type="dcterms:W3CDTF">2026-05-17T12:30:35Z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21</vt:i4>
  </property>
  <property fmtid="{D5CDD505-2E9C-101B-9397-08002B2CF9AE}" pid="4" name="PresentationFormat">
    <vt:lpwstr>On-screen Show (4:3)</vt:lpwstr>
  </property>
  <property fmtid="{D5CDD505-2E9C-101B-9397-08002B2CF9AE}" pid="5" name="Slides">
    <vt:i4>21</vt:i4>
  </property>
</Properties>
</file>