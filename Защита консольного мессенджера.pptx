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g" ContentType="image/jpe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9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12.xml" ContentType="application/vnd.openxmlformats-officedocument.presentationml.slide+xml"/>
  <Override PartName="/ppt/slides/slide3.xml" ContentType="application/vnd.openxmlformats-officedocument.presentationml.slide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7.xml" ContentType="application/vnd.openxmlformats-officedocument.presentationml.slideLayout+xml"/>
  <Override PartName="/ppt/slides/slide10.xml" ContentType="application/vnd.openxmlformats-officedocument.presentationml.slide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s/slide21.xml" ContentType="application/vnd.openxmlformats-officedocument.presentationml.slide+xml"/>
  <Override PartName="/ppt/slides/slide7.xml" ContentType="application/vnd.openxmlformats-officedocument.presentationml.slide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14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4.xml" ContentType="application/vnd.openxmlformats-officedocument.presentationml.slide+xml"/>
  <Override PartName="/ppt/slideMasters/slideMaster2.xml" ContentType="application/vnd.openxmlformats-officedocument.presentationml.slideMaster+xml"/>
  <Override PartName="/ppt/slideLayouts/slideLayout1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s/slide16.xml" ContentType="application/vnd.openxmlformats-officedocument.presentationml.slide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16.xml" ContentType="application/vnd.openxmlformats-officedocument.presentationml.slideLayout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slideLayouts/slideLayout6.xml" ContentType="application/vnd.openxmlformats-officedocument.presentationml.slideLayout+xml"/>
  <Override PartName="/ppt/slides/slide18.xml" ContentType="application/vnd.openxmlformats-officedocument.presentationml.slide+xml"/>
  <Override PartName="/ppt/slideMasters/slideMaster3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8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 strictFirstAndLastChars="0">
  <p:sldMasterIdLst>
    <p:sldMasterId id="2147483648" r:id="rId1"/>
    <p:sldMasterId id="2147483663" r:id="rId2"/>
    <p:sldMasterId id="2147483674" r:id="rId3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5143500"/>
  <p:notesSz cx="9144000" cy="5143500"/>
  <p:defaultText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17179B0-75F7-44BE-82BD-978F38E1F01B}">
  <a:tblStyle styleId="{617179B0-75F7-44BE-82BD-978F38E1F01B}" styleName="Table_0">
    <a:wholeTbl>
      <a:tcTxStyle>
        <a:srgbClr val="000000"/>
      </a:tcTxStyle>
      <a:tcStyle>
        <a:tcBdr>
          <a:left>
            <a:ln w="9525">
              <a:solidFill>
                <a:srgbClr val="9E9E9E"/>
              </a:solidFill>
            </a:ln>
          </a:left>
          <a:right>
            <a:ln w="9525">
              <a:solidFill>
                <a:srgbClr val="9E9E9E"/>
              </a:solidFill>
            </a:ln>
          </a:right>
          <a:top>
            <a:ln w="9525">
              <a:solidFill>
                <a:srgbClr val="9E9E9E"/>
              </a:solidFill>
            </a:ln>
          </a:top>
          <a:bottom>
            <a:ln w="9525">
              <a:solidFill>
                <a:srgbClr val="9E9E9E"/>
              </a:solidFill>
            </a:ln>
          </a:bottom>
          <a:insideH>
            <a:ln w="9525">
              <a:solidFill>
                <a:srgbClr val="9E9E9E"/>
              </a:solidFill>
            </a:ln>
          </a:insideH>
          <a:insideV>
            <a:ln w="9525">
              <a:solidFill>
                <a:srgbClr val="9E9E9E"/>
              </a:solidFill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533"/>
        <p:guide pos="388"/>
        <p:guide pos="3240" orient="horz"/>
        <p:guide orient="horz"/>
        <p:guide pos="51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theme" Target="theme/theme1.xml"/><Relationship Id="rId5" Type="http://schemas.openxmlformats.org/officeDocument/2006/relationships/theme" Target="theme/theme2.xml"/><Relationship Id="rId6" Type="http://schemas.openxmlformats.org/officeDocument/2006/relationships/theme" Target="theme/them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presProps" Target="presProps.xml" /><Relationship Id="rId29" Type="http://schemas.openxmlformats.org/officeDocument/2006/relationships/tableStyles" Target="tableStyles.xml" /><Relationship Id="rId30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ТИТУЛЬНЫЙ" preserve="0" showMasterPhAnim="0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/>
          <p:nvPr/>
        </p:nvPicPr>
        <p:blipFill>
          <a:blip r:embed="rId2">
            <a:alphaModFix/>
          </a:blip>
          <a:srcRect l="100" t="0" r="99" b="0"/>
          <a:stretch/>
        </p:blipFill>
        <p:spPr bwMode="auto"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subTitle" idx="1"/>
          </p:nvPr>
        </p:nvSpPr>
        <p:spPr bwMode="auto"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pPr>
              <a:defRPr/>
            </a:pPr>
            <a:endParaRPr/>
          </a:p>
        </p:txBody>
      </p:sp>
      <p:sp>
        <p:nvSpPr>
          <p:cNvPr id="12" name="Google Shape;12;p2"/>
          <p:cNvSpPr txBox="1"/>
          <p:nvPr>
            <p:ph type="title"/>
          </p:nvPr>
        </p:nvSpPr>
        <p:spPr bwMode="auto"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Белый слайд + заголовок" preserve="0" showMasterPhAnim="0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 bwMode="auto"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/>
          </a:p>
        </p:txBody>
      </p:sp>
      <p:sp>
        <p:nvSpPr>
          <p:cNvPr id="15" name="Google Shape;15;p3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Ваш макет 1" preserve="0" showMasterPhAnim="0" userDrawn="1">
  <p:cSld name="CUSTOM_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body" preserve="0" showMasterPhAnim="0" type="tx" userDrawn="1">
  <p:cSld name="TITLE_AND_BOD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" name="Google Shape;20;p5"/>
          <p:cNvSpPr txBox="1"/>
          <p:nvPr>
            <p:ph type="body" idx="1"/>
          </p:nvPr>
        </p:nvSpPr>
        <p:spPr bwMode="auto"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pPr>
              <a:defRPr/>
            </a:pPr>
            <a:endParaRPr/>
          </a:p>
        </p:txBody>
      </p:sp>
      <p:sp>
        <p:nvSpPr>
          <p:cNvPr id="21" name="Google Shape;21;p5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Тема вебинара" preserve="0" showMasterPhAnim="0" type="twoColTx" userDrawn="1">
  <p:cSld name="TITLE_AND_TWO_COLUMN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  <p:sp>
        <p:nvSpPr>
          <p:cNvPr id="24" name="Google Shape;24;p6"/>
          <p:cNvSpPr txBox="1"/>
          <p:nvPr>
            <p:ph type="title"/>
          </p:nvPr>
        </p:nvSpPr>
        <p:spPr bwMode="auto"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5" name="Google Shape;25;p6"/>
          <p:cNvSpPr txBox="1"/>
          <p:nvPr>
            <p:ph type="subTitle" idx="1"/>
          </p:nvPr>
        </p:nvSpPr>
        <p:spPr bwMode="auto"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6" name="Google Shape;26;p6"/>
          <p:cNvSpPr txBox="1"/>
          <p:nvPr>
            <p:ph type="subTitle" idx="2"/>
          </p:nvPr>
        </p:nvSpPr>
        <p:spPr bwMode="auto"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7" name="Google Shape;27;p6"/>
          <p:cNvSpPr txBox="1"/>
          <p:nvPr>
            <p:ph type="subTitle" idx="3"/>
          </p:nvPr>
        </p:nvSpPr>
        <p:spPr bwMode="auto"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8" name="Google Shape;28;p6"/>
          <p:cNvSpPr txBox="1"/>
          <p:nvPr>
            <p:ph type="subTitle" idx="4"/>
          </p:nvPr>
        </p:nvSpPr>
        <p:spPr bwMode="auto"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Разделительный слайд" preserve="0" showMasterPhAnim="0" userDrawn="1">
  <p:cSld name="MAIN_POI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  <p:pic>
        <p:nvPicPr>
          <p:cNvPr id="31" name="Google Shape;31;p7"/>
          <p:cNvPicPr/>
          <p:nvPr/>
        </p:nvPicPr>
        <p:blipFill>
          <a:blip r:embed="rId2">
            <a:alphaModFix/>
          </a:blip>
          <a:srcRect l="0" t="0" r="0" b="0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/>
          <p:nvPr>
            <p:ph type="title"/>
          </p:nvPr>
        </p:nvSpPr>
        <p:spPr bwMode="auto"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О себе" preserve="0" showMasterPhAnim="0" userDrawn="1">
  <p:cSld name="CUSTOM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5" name="Google Shape;35;p8"/>
          <p:cNvSpPr txBox="1"/>
          <p:nvPr>
            <p:ph type="subTitle" idx="1"/>
          </p:nvPr>
        </p:nvSpPr>
        <p:spPr bwMode="auto"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6" name="Google Shape;36;p8"/>
          <p:cNvSpPr txBox="1"/>
          <p:nvPr>
            <p:ph type="subTitle" idx="2"/>
          </p:nvPr>
        </p:nvSpPr>
        <p:spPr bwMode="auto"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Раздел+описание" preserve="0" showMasterPhAnim="0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 bwMode="auto"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9" name="Google Shape;39;p9"/>
          <p:cNvSpPr txBox="1"/>
          <p:nvPr>
            <p:ph type="title"/>
          </p:nvPr>
        </p:nvSpPr>
        <p:spPr bwMode="auto">
          <a:xfrm>
            <a:off x="609075" y="1220875"/>
            <a:ext cx="4045199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>
              <a:defRPr/>
            </a:pPr>
            <a:endParaRPr/>
          </a:p>
        </p:txBody>
      </p:sp>
      <p:sp>
        <p:nvSpPr>
          <p:cNvPr id="40" name="Google Shape;40;p9"/>
          <p:cNvSpPr txBox="1"/>
          <p:nvPr>
            <p:ph type="subTitle" idx="1"/>
          </p:nvPr>
        </p:nvSpPr>
        <p:spPr bwMode="auto">
          <a:xfrm>
            <a:off x="609075" y="2916213"/>
            <a:ext cx="4045199" cy="12350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pPr>
              <a:defRPr/>
            </a:pPr>
            <a:endParaRPr/>
          </a:p>
        </p:txBody>
      </p:sp>
      <p:sp>
        <p:nvSpPr>
          <p:cNvPr id="41" name="Google Shape;41;p9"/>
          <p:cNvSpPr txBox="1"/>
          <p:nvPr>
            <p:ph type="body" idx="2"/>
          </p:nvPr>
        </p:nvSpPr>
        <p:spPr bwMode="auto"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2" name="Google Shape;42;p9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Заголовок" preserve="0" showMasterPhAnim="0" userDrawn="1">
  <p:cSld name="CUSTOM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кодом 1" preserve="0" showMasterPhAnim="0" userDrawn="1">
  <p:cSld name="CUSTOM_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9" name="Google Shape;49;p12"/>
          <p:cNvSpPr/>
          <p:nvPr/>
        </p:nvSpPr>
        <p:spPr bwMode="auto"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0" name="Google Shape;50;p12"/>
          <p:cNvSpPr txBox="1"/>
          <p:nvPr>
            <p:ph type="subTitle" idx="1"/>
          </p:nvPr>
        </p:nvSpPr>
        <p:spPr bwMode="auto"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кодом 2" preserve="0" showMasterPhAnim="0" userDrawn="1">
  <p:cSld name="CUSTOM_2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3" name="Google Shape;53;p13"/>
          <p:cNvSpPr/>
          <p:nvPr/>
        </p:nvSpPr>
        <p:spPr bwMode="auto"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4" name="Google Shape;54;p13"/>
          <p:cNvSpPr txBox="1"/>
          <p:nvPr>
            <p:ph type="subTitle" idx="1"/>
          </p:nvPr>
        </p:nvSpPr>
        <p:spPr bwMode="auto"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КОД+ТЕКСТ 1" preserve="0" showMasterPhAnim="0" userDrawn="1">
  <p:cSld name="CUSTOM_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7" name="Google Shape;57;p14"/>
          <p:cNvSpPr txBox="1"/>
          <p:nvPr>
            <p:ph type="subTitle" idx="1"/>
          </p:nvPr>
        </p:nvSpPr>
        <p:spPr bwMode="auto"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58" name="Google Shape;58;p14"/>
          <p:cNvSpPr/>
          <p:nvPr/>
        </p:nvSpPr>
        <p:spPr bwMode="auto"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9" name="Google Shape;59;p14"/>
          <p:cNvSpPr txBox="1"/>
          <p:nvPr>
            <p:ph type="subTitle" idx="2"/>
          </p:nvPr>
        </p:nvSpPr>
        <p:spPr bwMode="auto"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КОД+ТЕКСТ 2" preserve="0" showMasterPhAnim="0" userDrawn="1">
  <p:cSld name="CUSTOM_4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2" name="Google Shape;62;p15"/>
          <p:cNvSpPr/>
          <p:nvPr/>
        </p:nvSpPr>
        <p:spPr bwMode="auto"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3" name="Google Shape;63;p15"/>
          <p:cNvSpPr txBox="1"/>
          <p:nvPr>
            <p:ph type="subTitle" idx="1"/>
          </p:nvPr>
        </p:nvSpPr>
        <p:spPr bwMode="auto"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4" name="Google Shape;64;p15"/>
          <p:cNvSpPr txBox="1"/>
          <p:nvPr>
            <p:ph type="subTitle" idx="2"/>
          </p:nvPr>
        </p:nvSpPr>
        <p:spPr bwMode="auto"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блок текст + картинка" preserve="0" showMasterPhAnim="0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/>
          <p:nvPr>
            <p:ph type="title"/>
          </p:nvPr>
        </p:nvSpPr>
        <p:spPr bwMode="auto">
          <a:xfrm>
            <a:off x="495300" y="1493849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pPr>
              <a:defRPr/>
            </a:pPr>
            <a:endParaRPr/>
          </a:p>
        </p:txBody>
      </p:sp>
      <p:pic>
        <p:nvPicPr>
          <p:cNvPr id="71" name="Google Shape;71;p17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Цитата, фон градиент" preserve="0" showMasterPhAnim="0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/>
          <p:nvPr>
            <p:ph type="title"/>
          </p:nvPr>
        </p:nvSpPr>
        <p:spPr bwMode="auto"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/>
          </a:p>
        </p:txBody>
      </p:sp>
      <p:sp>
        <p:nvSpPr>
          <p:cNvPr id="74" name="Google Shape;74;p18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этапы процесса" preserve="0" showMasterPhAnim="0" userDrawn="1">
  <p:cSld name="CUSTOM_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pic>
        <p:nvPicPr>
          <p:cNvPr id="77" name="Google Shape;77;p19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/>
          <p:nvPr/>
        </p:nvPicPr>
        <p:blipFill>
          <a:blip r:embed="rId5">
            <a:alphaModFix/>
          </a:blip>
          <a:stretch/>
        </p:blipFill>
        <p:spPr bwMode="auto"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 bwMode="auto"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2" name="Google Shape;82;p19"/>
          <p:cNvSpPr txBox="1"/>
          <p:nvPr/>
        </p:nvSpPr>
        <p:spPr bwMode="auto"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3" name="Google Shape;83;p19"/>
          <p:cNvSpPr txBox="1"/>
          <p:nvPr/>
        </p:nvSpPr>
        <p:spPr bwMode="auto"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4" name="Google Shape;84;p19"/>
          <p:cNvSpPr txBox="1"/>
          <p:nvPr/>
        </p:nvSpPr>
        <p:spPr bwMode="auto"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5" name="Google Shape;85;p19"/>
          <p:cNvSpPr txBox="1"/>
          <p:nvPr/>
        </p:nvSpPr>
        <p:spPr bwMode="auto">
          <a:xfrm>
            <a:off x="982906" y="3241600"/>
            <a:ext cx="1523099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/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</a:endParaRPr>
          </a:p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6" name="Google Shape;86;p19"/>
          <p:cNvSpPr txBox="1"/>
          <p:nvPr/>
        </p:nvSpPr>
        <p:spPr bwMode="auto">
          <a:xfrm>
            <a:off x="2828343" y="3241600"/>
            <a:ext cx="1523099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/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</a:endParaRPr>
          </a:p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7" name="Google Shape;87;p19"/>
          <p:cNvSpPr txBox="1"/>
          <p:nvPr/>
        </p:nvSpPr>
        <p:spPr bwMode="auto">
          <a:xfrm>
            <a:off x="4587670" y="3241600"/>
            <a:ext cx="1523099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/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</a:endParaRPr>
          </a:p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8" name="Google Shape;88;p19"/>
          <p:cNvSpPr txBox="1"/>
          <p:nvPr/>
        </p:nvSpPr>
        <p:spPr bwMode="auto">
          <a:xfrm>
            <a:off x="6407056" y="3241600"/>
            <a:ext cx="1523099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/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</a:endParaRPr>
          </a:p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писок в 2 колонки " preserve="0" showMasterPhAnim="0" userDrawn="1">
  <p:cSld name="CUSTOM_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graphicFrame>
        <p:nvGraphicFramePr>
          <p:cNvPr id="91" name="Google Shape;91;p20"/>
          <p:cNvGraphicFramePr>
            <a:graphicFrameLocks xmlns:a="http://schemas.openxmlformats.org/drawingml/2006/main"/>
          </p:cNvGraphicFramePr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{617179B0-75F7-44BE-82BD-978F38E1F01B}</a:tableStyleId>
                <a:noFill/>
              </a:tblPr>
              <a:tblGrid>
                <a:gridCol w="3800400"/>
                <a:gridCol w="4410000"/>
              </a:tblGrid>
              <a:tr h="4791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  <a:defRPr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algn="ctr">
                      <a:solidFill>
                        <a:srgbClr val="FFFFFF"/>
                      </a:solidFill>
                    </a:lnL>
                    <a:lnR w="9525" algn="ctr">
                      <a:solidFill>
                        <a:srgbClr val="FFFFFF"/>
                      </a:solidFill>
                    </a:lnR>
                    <a:lnT w="9525" algn="ctr">
                      <a:solidFill>
                        <a:srgbClr val="FFFFFF"/>
                      </a:solidFill>
                    </a:lnT>
                    <a:lnB w="9525" algn="ctr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  <a:defRPr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FFFFFF"/>
                      </a:solidFill>
                    </a:lnL>
                    <a:lnR w="9525" algn="ctr">
                      <a:solidFill>
                        <a:srgbClr val="FFFFFF"/>
                      </a:solidFill>
                    </a:lnR>
                    <a:lnT w="9525" algn="ctr">
                      <a:solidFill>
                        <a:srgbClr val="FFFFFF"/>
                      </a:solidFill>
                    </a:lnT>
                    <a:lnB w="9525" algn="ctr">
                      <a:solidFill>
                        <a:srgbClr val="FFFFFF"/>
                      </a:solidFill>
                    </a:lnB>
                  </a:tcPr>
                </a:tc>
              </a:tr>
              <a:tr h="1016175">
                <a:tc>
                  <a:txBody>
                    <a:bodyPr/>
                    <a:p>
                      <a:pPr marL="457200" lvl="0" indent="-32385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  <a:defRPr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457200" lvl="0" indent="-32385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  <a:defRPr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457200" lvl="0" indent="-32385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  <a:defRPr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algn="ctr">
                      <a:solidFill>
                        <a:srgbClr val="FFFFFF"/>
                      </a:solidFill>
                    </a:lnL>
                    <a:lnR w="9525" algn="ctr">
                      <a:solidFill>
                        <a:srgbClr val="FFFFFF"/>
                      </a:solidFill>
                    </a:lnR>
                    <a:lnT w="9525" algn="ctr">
                      <a:solidFill>
                        <a:srgbClr val="FFFFFF"/>
                      </a:solidFill>
                    </a:lnT>
                    <a:lnB w="9525" algn="ctr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p>
                      <a:pPr marL="457200" lvl="0" indent="-31750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  <a:defRPr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457200" lvl="0" indent="-32385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  <a:defRPr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457200" lvl="0" indent="-32385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  <a:defRPr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FFFFFF"/>
                      </a:solidFill>
                    </a:lnL>
                    <a:lnR w="9525" algn="ctr">
                      <a:solidFill>
                        <a:srgbClr val="FFFFFF"/>
                      </a:solidFill>
                    </a:lnR>
                    <a:lnT w="9525" algn="ctr">
                      <a:solidFill>
                        <a:srgbClr val="FFFFFF"/>
                      </a:solidFill>
                    </a:lnT>
                    <a:lnB w="9525" algn="ctr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сылка на источник" preserve="0" showMasterPhAnim="0" type="twoColTx" userDrawn="1">
  <p:cSld name="TITLE_AND_TWO_COLUMN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 bwMode="auto"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подтемой" preserve="0" showMasterPhAnim="0" userDrawn="1">
  <p:cSld name="MAIN_POI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/>
          <p:nvPr>
            <p:ph type="title"/>
          </p:nvPr>
        </p:nvSpPr>
        <p:spPr bwMode="auto"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Таблица " preserve="0" showMasterPhAnim="0" userDrawn="1">
  <p:cSld name="CUSTOM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graphicFrame>
        <p:nvGraphicFramePr>
          <p:cNvPr id="98" name="Google Shape;98;p23"/>
          <p:cNvGraphicFramePr>
            <a:graphicFrameLocks xmlns:a="http://schemas.openxmlformats.org/drawingml/2006/main"/>
          </p:cNvGraphicFramePr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{617179B0-75F7-44BE-82BD-978F38E1F01B}</a:tableStyleId>
                <a:noFill/>
              </a:tblPr>
              <a:tblGrid>
                <a:gridCol w="395875"/>
                <a:gridCol w="2403400"/>
                <a:gridCol w="2684725"/>
                <a:gridCol w="2477150"/>
              </a:tblGrid>
              <a:tr h="7061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 anchor="ctr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 anchor="ctr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  <a:defRPr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 anchor="ctr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  <a:defRPr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 anchor="ctr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325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  <a:defRPr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</a:tr>
              <a:tr h="420325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</a:tr>
              <a:tr h="420325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</a:tr>
              <a:tr h="420325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</a:tr>
              <a:tr h="420325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4 плашки + иллюстрация" preserve="0" showMasterPhAnim="0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  <p:sp>
        <p:nvSpPr>
          <p:cNvPr id="101" name="Google Shape;101;p24"/>
          <p:cNvSpPr/>
          <p:nvPr/>
        </p:nvSpPr>
        <p:spPr bwMode="auto"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02" name="Google Shape;102;p24"/>
          <p:cNvSpPr/>
          <p:nvPr/>
        </p:nvSpPr>
        <p:spPr bwMode="auto"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03" name="Google Shape;103;p24"/>
          <p:cNvSpPr/>
          <p:nvPr/>
        </p:nvSpPr>
        <p:spPr bwMode="auto"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04" name="Google Shape;104;p24"/>
          <p:cNvSpPr/>
          <p:nvPr/>
        </p:nvSpPr>
        <p:spPr bwMode="auto"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pic>
        <p:nvPicPr>
          <p:cNvPr id="105" name="Google Shape;105;p24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Заголовок" preserve="0" showMasterPhAnim="0" userDrawn="1">
  <p:cSld name="CUSTOM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3 блока" preserve="0" showMasterPhAnim="0" userDrawn="1">
  <p:cSld name="CUSTOM_7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0" name="Google Shape;110;p26"/>
          <p:cNvSpPr/>
          <p:nvPr/>
        </p:nvSpPr>
        <p:spPr bwMode="auto">
          <a:xfrm>
            <a:off x="932712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11" name="Google Shape;111;p26"/>
          <p:cNvSpPr/>
          <p:nvPr/>
        </p:nvSpPr>
        <p:spPr bwMode="auto"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12" name="Google Shape;112;p26"/>
          <p:cNvSpPr/>
          <p:nvPr/>
        </p:nvSpPr>
        <p:spPr bwMode="auto"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13" name="Google Shape;113;p26"/>
          <p:cNvSpPr txBox="1"/>
          <p:nvPr/>
        </p:nvSpPr>
        <p:spPr bwMode="auto"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 bwMode="auto"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 bwMode="auto"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Важный тезис крупным шрифтом " preserve="0" showMasterPhAnim="0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/>
          <p:nvPr>
            <p:ph type="title"/>
          </p:nvPr>
        </p:nvSpPr>
        <p:spPr bwMode="auto"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/>
          </a:p>
        </p:txBody>
      </p:sp>
      <p:sp>
        <p:nvSpPr>
          <p:cNvPr id="122" name="Google Shape;122;p28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Заголовок" preserve="0" showMasterPhAnim="0" userDrawn="1">
  <p:cSld name="CUSTOM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/>
          <p:nvPr>
            <p:ph type="title"/>
          </p:nvPr>
        </p:nvSpPr>
        <p:spPr bwMode="auto">
          <a:xfrm>
            <a:off x="500550" y="330736"/>
            <a:ext cx="8520600" cy="9797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кодом 1" preserve="0" showMasterPhAnim="0" userDrawn="1">
  <p:cSld name="CUSTOM_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" name="Google Shape;128;p31"/>
          <p:cNvSpPr txBox="1"/>
          <p:nvPr>
            <p:ph type="title"/>
          </p:nvPr>
        </p:nvSpPr>
        <p:spPr bwMode="auto">
          <a:xfrm>
            <a:off x="500550" y="330736"/>
            <a:ext cx="8520600" cy="9797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9" name="Google Shape;129;p31"/>
          <p:cNvSpPr/>
          <p:nvPr/>
        </p:nvSpPr>
        <p:spPr bwMode="auto">
          <a:xfrm>
            <a:off x="606200" y="1441163"/>
            <a:ext cx="7938600" cy="35649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0" name="Google Shape;130;p31"/>
          <p:cNvSpPr txBox="1"/>
          <p:nvPr>
            <p:ph type="subTitle" idx="1"/>
          </p:nvPr>
        </p:nvSpPr>
        <p:spPr bwMode="auto">
          <a:xfrm>
            <a:off x="743675" y="1496071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подтемой" preserve="0" showMasterPhAnim="0" userDrawn="1">
  <p:cSld name="MAIN_POINT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" name="Google Shape;132;p32"/>
          <p:cNvSpPr txBox="1"/>
          <p:nvPr>
            <p:ph type="title"/>
          </p:nvPr>
        </p:nvSpPr>
        <p:spPr bwMode="auto"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кодом 2 1" preserve="0" showMasterPhAnim="0" userDrawn="1">
  <p:cSld name="CUSTOM_2_1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5" name="Google Shape;135;p33"/>
          <p:cNvSpPr/>
          <p:nvPr/>
        </p:nvSpPr>
        <p:spPr bwMode="auto"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6" name="Google Shape;136;p33"/>
          <p:cNvSpPr txBox="1"/>
          <p:nvPr>
            <p:ph type="subTitle" idx="1"/>
          </p:nvPr>
        </p:nvSpPr>
        <p:spPr bwMode="auto"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КОД+ТЕКСТ 1 1" preserve="0" showMasterPhAnim="0" userDrawn="1">
  <p:cSld name="CUSTOM_4_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" name="Google Shape;138;p34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9" name="Google Shape;139;p34"/>
          <p:cNvSpPr txBox="1"/>
          <p:nvPr>
            <p:ph type="subTitle" idx="1"/>
          </p:nvPr>
        </p:nvSpPr>
        <p:spPr bwMode="auto"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40" name="Google Shape;140;p34"/>
          <p:cNvSpPr/>
          <p:nvPr/>
        </p:nvSpPr>
        <p:spPr bwMode="auto"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1" name="Google Shape;141;p34"/>
          <p:cNvSpPr txBox="1"/>
          <p:nvPr>
            <p:ph type="subTitle" idx="2"/>
          </p:nvPr>
        </p:nvSpPr>
        <p:spPr bwMode="auto"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theme" Target="../theme/theme2.xml"/><Relationship Id="rId12" Type="http://schemas.openxmlformats.org/officeDocument/2006/relationships/image" Target="../media/image1.png"/></Relationships>
</file>

<file path=ppt/slideMasters/_rels/slideMaster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theme" Target="../theme/theme3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blipFill>
          <a:blip r:embed="rId16">
            <a:alphaModFix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" name="Google Shape;7;p1"/>
          <p:cNvSpPr txBox="1"/>
          <p:nvPr>
            <p:ph type="body" idx="1"/>
          </p:nvPr>
        </p:nvSpPr>
        <p:spPr bwMode="auto"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8" name="Google Shape;8;p1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 sldNum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blipFill>
          <a:blip r:embed="rId12">
            <a:alphaModFix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7" name="Google Shape;67;p16"/>
          <p:cNvSpPr txBox="1"/>
          <p:nvPr>
            <p:ph type="body" idx="1"/>
          </p:nvPr>
        </p:nvSpPr>
        <p:spPr bwMode="auto"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8" name="Google Shape;68;p16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</p:sldLayoutIdLst>
  <p:hf dt="0" ftr="0" hdr="0" sldNum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blipFill>
          <a:blip r:embed="rId9">
            <a:alphaModFix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/>
          <p:nvPr>
            <p:ph type="title"/>
          </p:nvPr>
        </p:nvSpPr>
        <p:spPr bwMode="auto">
          <a:xfrm>
            <a:off x="500550" y="330736"/>
            <a:ext cx="8520600" cy="979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18" name="Google Shape;118;p27"/>
          <p:cNvSpPr txBox="1"/>
          <p:nvPr>
            <p:ph type="body" idx="1"/>
          </p:nvPr>
        </p:nvSpPr>
        <p:spPr bwMode="auto"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19" name="Google Shape;119;p27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</p:sldLayoutIdLst>
  <p:hf dt="0" ftr="0" hdr="0" sldNum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34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image" Target="../media/image13.png"/><Relationship Id="rId3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" name="Google Shape;147;p35"/>
          <p:cNvSpPr txBox="1"/>
          <p:nvPr/>
        </p:nvSpPr>
        <p:spPr bwMode="auto">
          <a:xfrm>
            <a:off x="787360" y="1031148"/>
            <a:ext cx="7592219" cy="731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Консольный мессенджер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48" name="Google Shape;148;p35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 bwMode="auto"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50" name="Google Shape;150;p35"/>
          <p:cNvSpPr txBox="1"/>
          <p:nvPr/>
        </p:nvSpPr>
        <p:spPr bwMode="auto">
          <a:xfrm rot="0" flipH="0" flipV="0">
            <a:off x="629699" y="4127374"/>
            <a:ext cx="2922660" cy="402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91423" rIns="91423" bIns="91423" anchor="t" anchorCtr="0">
            <a:sp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600">
                <a:solidFill>
                  <a:srgbClr val="FFFFFF"/>
                </a:solidFill>
                <a:latin typeface="Roboto Medium"/>
                <a:ea typeface="Roboto Medium"/>
                <a:cs typeface="Roboto Medium"/>
              </a:rPr>
              <a:t>С++ Developer. Professional </a:t>
            </a:r>
            <a:endParaRPr sz="1600">
              <a:latin typeface="Roboto Medium"/>
              <a:ea typeface="Roboto Medium"/>
              <a:cs typeface="Roboto Medium"/>
            </a:endParaRPr>
          </a:p>
        </p:txBody>
      </p:sp>
      <p:pic>
        <p:nvPicPr>
          <p:cNvPr id="151" name="Google Shape;151;p35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7409722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152803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7916682" y="268989"/>
            <a:ext cx="832008" cy="294270"/>
          </a:xfrm>
          <a:prstGeom prst="rect">
            <a:avLst/>
          </a:prstGeom>
        </p:spPr>
      </p:pic>
      <p:pic>
        <p:nvPicPr>
          <p:cNvPr id="1864326906" name="Google Shape;221;p43"/>
          <p:cNvPicPr/>
          <p:nvPr/>
        </p:nvPicPr>
        <p:blipFill>
          <a:blip r:embed="rId5">
            <a:alphaModFix/>
          </a:blip>
          <a:stretch/>
        </p:blipFill>
        <p:spPr bwMode="auto">
          <a:xfrm>
            <a:off x="0" y="0"/>
            <a:ext cx="921601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144867" name="Google Shape;148;p35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8066099" y="421274"/>
            <a:ext cx="822174" cy="28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03878071" name="Google Shape;151;p35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7562121" y="3236092"/>
            <a:ext cx="1548450" cy="1669474"/>
          </a:xfrm>
          <a:prstGeom prst="rect">
            <a:avLst/>
          </a:prstGeom>
          <a:noFill/>
          <a:ln>
            <a:noFill/>
          </a:ln>
        </p:spPr>
      </p:pic>
      <p:sp>
        <p:nvSpPr>
          <p:cNvPr id="570213516" name=""/>
          <p:cNvSpPr txBox="1"/>
          <p:nvPr/>
        </p:nvSpPr>
        <p:spPr bwMode="auto">
          <a:xfrm flipH="0" flipV="0">
            <a:off x="733067" y="4351324"/>
            <a:ext cx="2608165" cy="2838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>
                <a:solidFill>
                  <a:srgbClr val="FFFFFF"/>
                </a:solidFill>
                <a:latin typeface="Roboto Medium"/>
                <a:ea typeface="Roboto Medium"/>
                <a:cs typeface="Roboto Medium"/>
              </a:rPr>
              <a:t>С++ Developer. Professional </a:t>
            </a:r>
            <a:endParaRPr sz="1600">
              <a:latin typeface="Roboto Medium"/>
              <a:ea typeface="Roboto Medium"/>
              <a:cs typeface="Roboto Medium"/>
            </a:endParaRPr>
          </a:p>
        </p:txBody>
      </p:sp>
      <p:sp>
        <p:nvSpPr>
          <p:cNvPr id="1426761206" name=""/>
          <p:cNvSpPr txBox="1"/>
          <p:nvPr/>
        </p:nvSpPr>
        <p:spPr bwMode="auto">
          <a:xfrm flipH="0" flipV="0">
            <a:off x="733067" y="1200805"/>
            <a:ext cx="6830854" cy="124394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4200" b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Консольный мессенджер</a:t>
            </a:r>
            <a:endParaRPr sz="4200" b="1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/>
          <p:nvPr>
            <p:ph type="title"/>
          </p:nvPr>
        </p:nvSpPr>
        <p:spPr bwMode="auto"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/>
          <p:nvPr>
            <p:ph type="title"/>
          </p:nvPr>
        </p:nvSpPr>
        <p:spPr bwMode="auto">
          <a:xfrm flipH="0" flipV="0">
            <a:off x="552618" y="313623"/>
            <a:ext cx="8468530" cy="1304114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ru" sz="3000"/>
              <a:t>Защита проекта</a:t>
            </a:r>
            <a:endParaRPr sz="300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ru" sz="3000"/>
              <a:t>Тема: </a:t>
            </a:r>
            <a:r>
              <a:rPr lang="ru" sz="3000"/>
              <a:t>консольный мессенджер</a:t>
            </a:r>
            <a:endParaRPr sz="300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64" name="Google Shape;164;p37"/>
          <p:cNvPicPr/>
          <p:nvPr/>
        </p:nvPicPr>
        <p:blipFill>
          <a:blip r:embed="rId2"/>
          <a:srcRect l="0" t="3009" r="0" b="3009"/>
          <a:stretch/>
        </p:blipFill>
        <p:spPr bwMode="auto">
          <a:xfrm rot="0" flipH="0" flipV="0">
            <a:off x="630237" y="1896549"/>
            <a:ext cx="2037600" cy="2419047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5" name="Google Shape;165;p37"/>
          <p:cNvSpPr txBox="1"/>
          <p:nvPr/>
        </p:nvSpPr>
        <p:spPr bwMode="auto">
          <a:xfrm>
            <a:off x="3831438" y="1708599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2300" b="1">
                <a:solidFill>
                  <a:srgbClr val="3F299A"/>
                </a:solidFill>
                <a:latin typeface="Roboto"/>
                <a:ea typeface="Roboto"/>
                <a:cs typeface="Roboto"/>
              </a:rPr>
              <a:t>Наталья Косарева</a:t>
            </a:r>
            <a:endParaRPr sz="2300" b="1">
              <a:solidFill>
                <a:srgbClr val="3F299A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66" name="Google Shape;166;p37"/>
          <p:cNvSpPr txBox="1"/>
          <p:nvPr/>
        </p:nvSpPr>
        <p:spPr bwMode="auto">
          <a:xfrm flipH="0" flipV="0">
            <a:off x="3266487" y="2261621"/>
            <a:ext cx="5130759" cy="2402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91423" rIns="91423" bIns="91423" anchor="t" anchorCtr="0">
            <a:spAutoFit/>
          </a:bodyPr>
          <a:lstStyle/>
          <a:p>
            <a:pPr>
              <a:defRPr/>
            </a:pPr>
            <a:r>
              <a:rPr lang="ru" sz="1300" b="0" i="0" u="none" strike="noStrike" cap="none" spc="0">
                <a:solidFill>
                  <a:srgbClr val="000000"/>
                </a:solidFill>
                <a:latin typeface="Roboto Medium"/>
                <a:ea typeface="Roboto Medium"/>
                <a:cs typeface="Roboto Medium"/>
              </a:rPr>
              <a:t>  Разработка и интеграция ПО для комплексных систем электронной индикации и сигнализации (КСЭИС) и бортовых радиолокационных станций (РЛС) для военно-транспортной авиации (метеонавигация, обзор земной поверхности)</a:t>
            </a:r>
            <a:r>
              <a:rPr lang="ru" sz="1300" b="0" i="0" u="none" strike="noStrike" cap="none" spc="0">
                <a:solidFill>
                  <a:srgbClr val="000000"/>
                </a:solidFill>
                <a:latin typeface="Roboto Medium"/>
                <a:ea typeface="Roboto Medium"/>
                <a:cs typeface="Roboto Medium"/>
              </a:rPr>
              <a:t>.</a:t>
            </a:r>
            <a:endParaRPr lang="ru" sz="1300" b="0" i="0" u="none" strike="noStrike" cap="none" spc="0">
              <a:solidFill>
                <a:srgbClr val="000000"/>
              </a:solidFill>
              <a:latin typeface="Roboto Medium"/>
              <a:ea typeface="Roboto Medium"/>
              <a:cs typeface="Roboto Medium"/>
            </a:endParaRPr>
          </a:p>
          <a:p>
            <a:pPr>
              <a:defRPr/>
            </a:pPr>
            <a:r>
              <a:rPr lang="ru" sz="1300" b="0" i="0" u="none" strike="noStrike" cap="none" spc="0">
                <a:solidFill>
                  <a:srgbClr val="000000"/>
                </a:solidFill>
                <a:latin typeface="Roboto Medium"/>
                <a:ea typeface="Roboto Medium"/>
                <a:cs typeface="Roboto Medium"/>
              </a:rPr>
              <a:t>Разработка демонстрационных проектов для авиасалонов МАКС и выставки «Армия»</a:t>
            </a:r>
            <a:r>
              <a:rPr lang="ru" sz="1300" b="0" i="0" u="none" strike="noStrike" cap="none" spc="0">
                <a:solidFill>
                  <a:srgbClr val="000000"/>
                </a:solidFill>
                <a:latin typeface="Roboto Medium"/>
                <a:ea typeface="Roboto Medium"/>
                <a:cs typeface="Roboto Medium"/>
              </a:rPr>
              <a:t>.</a:t>
            </a:r>
            <a:endParaRPr lang="ru" sz="1300" b="0" i="0" u="none" strike="noStrike" cap="none" spc="0">
              <a:solidFill>
                <a:srgbClr val="000000"/>
              </a:solidFill>
              <a:latin typeface="Roboto Medium"/>
              <a:ea typeface="Roboto Medium"/>
              <a:cs typeface="Roboto Medium"/>
            </a:endParaRPr>
          </a:p>
          <a:p>
            <a:pPr>
              <a:defRPr/>
            </a:pPr>
            <a:r>
              <a:rPr lang="en-US" sz="1300" b="0" i="0" u="none" strike="noStrike" cap="none" spc="0">
                <a:solidFill>
                  <a:srgbClr val="000000"/>
                </a:solidFill>
                <a:latin typeface="Roboto Medium"/>
                <a:ea typeface="Roboto Medium"/>
                <a:cs typeface="Roboto Medium"/>
              </a:rPr>
              <a:t>   Инструменты и технологии:</a:t>
            </a:r>
            <a:endParaRPr lang="en-US" sz="1300" b="0" i="0" u="none" strike="noStrike" cap="none" spc="0">
              <a:solidFill>
                <a:srgbClr val="000000"/>
              </a:solidFill>
              <a:latin typeface="Roboto Medium"/>
              <a:cs typeface="Roboto Medium"/>
            </a:endParaRPr>
          </a:p>
          <a:p>
            <a:pPr>
              <a:defRPr/>
            </a:pPr>
            <a:r>
              <a:rPr lang="en-US" sz="1300" b="0" i="0" u="none" strike="noStrike" cap="none" spc="0">
                <a:solidFill>
                  <a:srgbClr val="000000"/>
                </a:solidFill>
                <a:latin typeface="Roboto Medium"/>
                <a:ea typeface="Roboto Medium"/>
                <a:cs typeface="Roboto Medium"/>
              </a:rPr>
              <a:t>- Microsoft Visual Studio, Tornado, Wind River Workbench</a:t>
            </a:r>
            <a:endParaRPr lang="en-US" sz="1300" b="0" i="0" u="none" strike="noStrike" cap="none" spc="0">
              <a:solidFill>
                <a:srgbClr val="000000"/>
              </a:solidFill>
              <a:latin typeface="Roboto Medium"/>
              <a:cs typeface="Roboto Medium"/>
            </a:endParaRPr>
          </a:p>
          <a:p>
            <a:pPr>
              <a:defRPr/>
            </a:pPr>
            <a:r>
              <a:rPr lang="en-US" sz="1300" b="0" i="0" u="none" strike="noStrike" cap="none" spc="0">
                <a:solidFill>
                  <a:srgbClr val="000000"/>
                </a:solidFill>
                <a:latin typeface="Roboto Medium"/>
                <a:ea typeface="Roboto Medium"/>
                <a:cs typeface="Roboto Medium"/>
              </a:rPr>
              <a:t>- TortoiseSVN (система контроля версий)</a:t>
            </a:r>
            <a:endParaRPr lang="en-US" sz="1300" b="0" i="0" u="none" strike="noStrike" cap="none" spc="0">
              <a:solidFill>
                <a:srgbClr val="000000"/>
              </a:solidFill>
              <a:latin typeface="Roboto Medium"/>
              <a:cs typeface="Roboto Medium"/>
            </a:endParaRPr>
          </a:p>
          <a:p>
            <a:pPr>
              <a:defRPr/>
            </a:pPr>
            <a:r>
              <a:rPr lang="en-US" sz="1300" b="0" i="0" u="none" strike="noStrike" cap="none" spc="0">
                <a:solidFill>
                  <a:srgbClr val="000000"/>
                </a:solidFill>
                <a:latin typeface="Roboto Medium"/>
                <a:ea typeface="Roboto Medium"/>
                <a:cs typeface="Roboto Medium"/>
              </a:rPr>
              <a:t>- VxWorks (ОС РВ)</a:t>
            </a:r>
            <a:endParaRPr lang="en-US" sz="1300" b="0" i="0" u="none" strike="noStrike" cap="none" spc="0">
              <a:solidFill>
                <a:srgbClr val="000000"/>
              </a:solidFill>
              <a:latin typeface="Roboto Medium"/>
              <a:cs typeface="Roboto Medium"/>
            </a:endParaRPr>
          </a:p>
          <a:p>
            <a:pPr marL="0" lv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300" b="0" i="0" u="none" strike="noStrike" cap="none" spc="0">
                <a:solidFill>
                  <a:srgbClr val="000000"/>
                </a:solidFill>
                <a:latin typeface="Roboto Medium"/>
                <a:ea typeface="Roboto Medium"/>
                <a:cs typeface="Roboto Medium"/>
              </a:rPr>
              <a:t>- C</a:t>
            </a:r>
            <a:endParaRPr sz="1300">
              <a:solidFill>
                <a:srgbClr val="000000"/>
              </a:solidFill>
              <a:latin typeface="Roboto Medium"/>
              <a:ea typeface="Roboto Medium"/>
              <a:cs typeface="Roboto Medium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 bwMode="auto"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</a:rPr>
              <a:t>Цел</a:t>
            </a:r>
            <a:r>
              <a:rPr lang="ru" sz="3000" b="1">
                <a:latin typeface="Roboto"/>
                <a:ea typeface="Roboto"/>
                <a:cs typeface="Roboto"/>
              </a:rPr>
              <a:t>ь и задачи</a:t>
            </a: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проекта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</a:endParaRPr>
          </a:p>
        </p:txBody>
      </p:sp>
      <p:graphicFrame>
        <p:nvGraphicFramePr>
          <p:cNvPr id="186" name="Google Shape;186;p39"/>
          <p:cNvGraphicFramePr>
            <a:graphicFrameLocks xmlns:a="http://schemas.openxmlformats.org/drawingml/2006/main"/>
          </p:cNvGraphicFramePr>
          <p:nvPr/>
        </p:nvGraphicFramePr>
        <p:xfrm>
          <a:off x="952499" y="1833667"/>
          <a:ext cx="7248524" cy="317376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{617179B0-75F7-44BE-82BD-978F38E1F01B}</a:tableStyleId>
                <a:noFill/>
              </a:tblPr>
              <a:tblGrid>
                <a:gridCol w="489425"/>
                <a:gridCol w="6749575"/>
              </a:tblGrid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400" b="1" i="0" u="none" strike="noStrike" cap="none" spc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Анализ и проектирование</a:t>
                      </a:r>
                      <a:r>
                        <a:rPr lang="en-US" sz="1400" b="0" i="0" u="none" strike="noStrike" cap="none" spc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:  определение требований к клиенту и серверу, р</a:t>
                      </a:r>
                      <a:r>
                        <a:rPr lang="en-US" sz="1400" b="0" i="0" u="none" strike="noStrike" cap="none" spc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азработка архитектуры взаимодействия (клиент ↔ сервер ↔ БД), выбор</a:t>
                      </a:r>
                      <a:r>
                        <a:rPr lang="en-US" sz="1400" b="0" i="0" u="none" strike="noStrike" cap="none" spc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 стека технологий 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400" b="1" i="0" u="none" strike="noStrike" cap="none" spc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Разработка серверной части</a:t>
                      </a:r>
                      <a:r>
                        <a:rPr lang="ru" sz="1400" b="0" i="0" u="none" strike="noStrike" cap="none" spc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: р</a:t>
                      </a:r>
                      <a:r>
                        <a:rPr lang="ru" sz="1400" b="0" i="0" u="none" strike="noStrike" cap="none" spc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еализация TCP-сервера, </a:t>
                      </a:r>
                      <a:r>
                        <a:rPr lang="ru" sz="1400" b="0" i="0" u="none" strike="noStrike" cap="none" spc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приём и обработка подключений нескольких клиентов одновременно, механизм рассылки сообщений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defRPr/>
                      </a:pPr>
                      <a:r>
                        <a:rPr lang="ru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Разработка клиентской части</a:t>
                      </a:r>
                      <a:r>
                        <a:rPr lang="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: реализация TCP-клиента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434889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4</a:t>
                      </a: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defRPr/>
                      </a:pPr>
                      <a:r>
                        <a:rPr lang="ru" sz="1400" b="1" i="0" u="none" strike="noStrike" cap="none" spc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Интеграция SQLite3</a:t>
                      </a:r>
                      <a:r>
                        <a:rPr lang="ru" sz="1400" b="0" i="0" u="none" strike="noStrike" cap="none" spc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 для хранения истории сообщений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5.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defRPr/>
                      </a:pPr>
                      <a:r>
                        <a:rPr lang="ru" sz="1400" b="0" i="0" u="none" strike="noStrike" cap="none" spc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Тестирование и отладка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 bwMode="auto">
          <a:xfrm flipH="0" flipV="0">
            <a:off x="1341286" y="977980"/>
            <a:ext cx="6470952" cy="662099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3" rIns="162000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Цель проекта: р</a:t>
            </a:r>
            <a:r>
              <a:rPr lang="ru" sz="1500" b="0" i="0" u="none" strike="noStrike" cap="none" spc="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азработать консольный мессенджер с архитектурой клиент-сервер для обмена публичными и приватными сообщениями с сохранением истории в базе данных</a:t>
            </a:r>
            <a:endParaRPr sz="1500">
              <a:solidFill>
                <a:schemeClr val="dk1"/>
              </a:solidFill>
              <a:latin typeface="Roboto Medium"/>
              <a:ea typeface="Roboto Medium"/>
              <a:cs typeface="Roboto Medium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/>
              <a:t>Какие технологии использовались</a:t>
            </a:r>
            <a:endParaRPr sz="300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3000"/>
          </a:p>
        </p:txBody>
      </p:sp>
      <p:graphicFrame>
        <p:nvGraphicFramePr>
          <p:cNvPr id="199" name="Google Shape;199;p40"/>
          <p:cNvGraphicFramePr>
            <a:graphicFrameLocks xmlns:a="http://schemas.openxmlformats.org/drawingml/2006/main"/>
          </p:cNvGraphicFramePr>
          <p:nvPr/>
        </p:nvGraphicFramePr>
        <p:xfrm>
          <a:off x="952500" y="1897775"/>
          <a:ext cx="3000000" cy="300000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{617179B0-75F7-44BE-82BD-978F38E1F01B}</a:tableStyleId>
                <a:noFill/>
              </a:tblPr>
              <a:tblGrid>
                <a:gridCol w="489425"/>
                <a:gridCol w="6749575"/>
              </a:tblGrid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sz="16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Язык: </a:t>
                      </a:r>
                      <a:r>
                        <a:rPr lang="en-US" sz="1600" b="0" i="0" u="none" strike="noStrike" cap="none" spc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С++ 17</a:t>
                      </a:r>
                      <a:endParaRPr sz="16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sz="16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Сеть: </a:t>
                      </a:r>
                      <a:r>
                        <a:rPr lang="en-US" sz="1600" b="0" i="0" u="none" strike="noStrike" cap="none" spc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Boost.Asio  </a:t>
                      </a:r>
                      <a:endParaRPr sz="1600" b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600" b="0" i="0" u="none" strike="noStrike" cap="none" spc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БД: SQLite3  </a:t>
                      </a:r>
                      <a:endParaRPr sz="1600" b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400" b="0" i="0" u="none" strike="noStrike" cap="none" spc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Boost.Test</a:t>
                      </a:r>
                      <a:endParaRPr/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6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/>
              <a:t>Архитектура</a:t>
            </a:r>
            <a:endParaRPr sz="3000"/>
          </a:p>
        </p:txBody>
      </p:sp>
      <p:sp>
        <p:nvSpPr>
          <p:cNvPr id="1344447982" name="Google Shape;373;p54"/>
          <p:cNvSpPr txBox="1"/>
          <p:nvPr/>
        </p:nvSpPr>
        <p:spPr bwMode="auto">
          <a:xfrm>
            <a:off x="600399" y="438674"/>
            <a:ext cx="6652199" cy="1095899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>
            <a:def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65712461" name=""/>
          <p:cNvSpPr/>
          <p:nvPr/>
        </p:nvSpPr>
        <p:spPr bwMode="auto">
          <a:xfrm flipH="0" flipV="0">
            <a:off x="7078642" y="1517150"/>
            <a:ext cx="96333" cy="385722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74792500" name=""/>
          <p:cNvSpPr/>
          <p:nvPr/>
        </p:nvSpPr>
        <p:spPr bwMode="auto">
          <a:xfrm flipH="0" flipV="0">
            <a:off x="7069834" y="3131390"/>
            <a:ext cx="96333" cy="385722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0891277" name="Google Shape;375;p54"/>
          <p:cNvSpPr/>
          <p:nvPr/>
        </p:nvSpPr>
        <p:spPr bwMode="auto">
          <a:xfrm flipH="0" flipV="0">
            <a:off x="5911536" y="285460"/>
            <a:ext cx="2430545" cy="1186426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vertOverflow="overflow" horzOverflow="overflow" vert="horz" wrap="square" lIns="91423" tIns="91423" rIns="91423" bIns="91423" numCol="1" spcCol="0" rtlCol="0" fromWordArt="0" anchor="ctr" anchorCtr="0" forceAA="0" upright="0" compatLnSpc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>
                <a:solidFill>
                  <a:schemeClr val="lt1"/>
                </a:solidFill>
                <a:latin typeface="Roboto Medium"/>
                <a:ea typeface="Roboto Medium"/>
                <a:cs typeface="Roboto Medium"/>
              </a:rPr>
              <a:t>             Клиенты</a:t>
            </a:r>
            <a:endParaRPr>
              <a:solidFill>
                <a:schemeClr val="lt1"/>
              </a:solidFill>
              <a:latin typeface="Roboto Medium"/>
              <a:ea typeface="Roboto Medium"/>
              <a:cs typeface="Roboto Medium"/>
            </a:endParaRP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>
                <a:solidFill>
                  <a:schemeClr val="lt1"/>
                </a:solidFill>
                <a:latin typeface="Roboto Medium"/>
                <a:ea typeface="Roboto Medium"/>
                <a:cs typeface="Roboto Medium"/>
              </a:rPr>
              <a:t>      (отправка / прием </a:t>
            </a:r>
            <a:endParaRPr>
              <a:solidFill>
                <a:schemeClr val="lt1"/>
              </a:solidFill>
              <a:latin typeface="Roboto Medium"/>
              <a:ea typeface="Roboto Medium"/>
              <a:cs typeface="Roboto Medium"/>
            </a:endParaRP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>
                <a:solidFill>
                  <a:schemeClr val="lt1"/>
                </a:solidFill>
                <a:latin typeface="Roboto Medium"/>
                <a:ea typeface="Roboto Medium"/>
                <a:cs typeface="Roboto Medium"/>
              </a:rPr>
              <a:t>           сообщений)</a:t>
            </a:r>
            <a:endParaRPr>
              <a:solidFill>
                <a:schemeClr val="lt1"/>
              </a:solidFill>
              <a:latin typeface="Roboto Medium"/>
              <a:ea typeface="Roboto Medium"/>
              <a:cs typeface="Roboto Medium"/>
            </a:endParaRPr>
          </a:p>
        </p:txBody>
      </p:sp>
      <p:sp>
        <p:nvSpPr>
          <p:cNvPr id="1196890943" name="Google Shape;375;p54"/>
          <p:cNvSpPr/>
          <p:nvPr/>
        </p:nvSpPr>
        <p:spPr bwMode="auto">
          <a:xfrm flipH="0" flipV="0">
            <a:off x="5911536" y="1857610"/>
            <a:ext cx="2430545" cy="1273778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vertOverflow="overflow" horzOverflow="overflow" vert="horz" wrap="square" lIns="91423" tIns="91423" rIns="91423" bIns="91423" numCol="1" spcCol="0" rtlCol="0" fromWordArt="0" anchor="ctr" anchorCtr="0" forceAA="0" upright="0" compatLnSpc="0">
            <a:noAutofit/>
          </a:bodyPr>
          <a:lstStyle/>
          <a:p>
            <a:pPr>
              <a:defRPr/>
            </a:pPr>
            <a:r>
              <a:rPr lang="en-US" sz="1400" b="0" i="0" u="none" strike="noStrike" cap="none" spc="0">
                <a:solidFill>
                  <a:schemeClr val="lt1"/>
                </a:solidFill>
                <a:latin typeface="Roboto Medium"/>
                <a:ea typeface="Roboto Medium"/>
                <a:cs typeface="Roboto Medium"/>
              </a:rPr>
              <a:t>                Сервер </a:t>
            </a:r>
            <a:endParaRPr lang="en-US" sz="1400" b="0" i="0" u="none" strike="noStrike" cap="none" spc="0">
              <a:solidFill>
                <a:schemeClr val="lt1"/>
              </a:solidFill>
              <a:latin typeface="Roboto Medium"/>
              <a:ea typeface="Roboto Medium"/>
              <a:cs typeface="Roboto Medium"/>
            </a:endParaRPr>
          </a:p>
          <a:p>
            <a:pPr>
              <a:defRPr/>
            </a:pPr>
            <a:r>
              <a:rPr lang="en-US" sz="1400" b="0" i="0" u="none" strike="noStrike" cap="none" spc="0">
                <a:solidFill>
                  <a:schemeClr val="lt1"/>
                </a:solidFill>
                <a:latin typeface="Roboto Medium"/>
                <a:ea typeface="Roboto Medium"/>
                <a:cs typeface="Roboto Medium"/>
              </a:rPr>
              <a:t>(</a:t>
            </a:r>
            <a:r>
              <a:rPr lang="en-US" sz="1400" b="0" i="0" u="none" strike="noStrike" cap="none" spc="0">
                <a:solidFill>
                  <a:schemeClr val="lt1"/>
                </a:solidFill>
                <a:latin typeface="Roboto Medium"/>
                <a:ea typeface="Roboto Medium"/>
                <a:cs typeface="Roboto Medium"/>
              </a:rPr>
              <a:t>TCP, многопоточность</a:t>
            </a:r>
            <a:r>
              <a:rPr lang="en-US" sz="1400" b="0" i="0" u="none" strike="noStrike" cap="none" spc="0">
                <a:solidFill>
                  <a:schemeClr val="lt1"/>
                </a:solidFill>
                <a:latin typeface="Roboto Medium"/>
                <a:ea typeface="Roboto Medium"/>
                <a:cs typeface="Roboto Medium"/>
              </a:rPr>
              <a:t>)</a:t>
            </a:r>
            <a:r>
              <a:rPr lang="en-US" sz="1400" b="1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endParaRPr sz="1400"/>
          </a:p>
        </p:txBody>
      </p:sp>
      <p:sp>
        <p:nvSpPr>
          <p:cNvPr id="1287429219" name="Google Shape;375;p54"/>
          <p:cNvSpPr/>
          <p:nvPr/>
        </p:nvSpPr>
        <p:spPr bwMode="auto">
          <a:xfrm flipH="0" flipV="0">
            <a:off x="5990255" y="3517113"/>
            <a:ext cx="2351826" cy="1290991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vertOverflow="overflow" horzOverflow="overflow" vert="horz" wrap="square" lIns="91423" tIns="91423" rIns="91423" bIns="91423" numCol="1" spcCol="0" rtlCol="0" fromWordArt="0" anchor="ctr" anchorCtr="0" forceAA="0" upright="0" compatLnSpc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400" b="0" i="0" u="none" strike="noStrike" cap="none" spc="0">
                <a:solidFill>
                  <a:schemeClr val="lt1"/>
                </a:solidFill>
                <a:latin typeface="Roboto Medium"/>
                <a:ea typeface="Roboto Medium"/>
                <a:cs typeface="Roboto Medium"/>
              </a:rPr>
              <a:t>               SQLite3 </a:t>
            </a:r>
            <a:endParaRPr lang="en-US" sz="1400" b="0" i="0" u="none" strike="noStrike" cap="none" spc="0">
              <a:solidFill>
                <a:schemeClr val="lt1"/>
              </a:solidFill>
              <a:latin typeface="Roboto Medium"/>
              <a:ea typeface="Roboto Medium"/>
              <a:cs typeface="Roboto Medium"/>
            </a:endParaRP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400" b="0" i="0" u="none" strike="noStrike" cap="none" spc="0">
                <a:solidFill>
                  <a:schemeClr val="lt1"/>
                </a:solidFill>
                <a:latin typeface="Roboto Medium"/>
                <a:ea typeface="Roboto Medium"/>
                <a:cs typeface="Roboto Medium"/>
              </a:rPr>
              <a:t>      (хранение истории)</a:t>
            </a:r>
            <a:endParaRPr>
              <a:solidFill>
                <a:schemeClr val="lt1"/>
              </a:solidFill>
              <a:latin typeface="Roboto Medium"/>
              <a:ea typeface="Roboto Medium"/>
              <a:cs typeface="Roboto Medium"/>
            </a:endParaRPr>
          </a:p>
        </p:txBody>
      </p:sp>
      <p:sp>
        <p:nvSpPr>
          <p:cNvPr id="1237686680" name=""/>
          <p:cNvSpPr txBox="1"/>
          <p:nvPr/>
        </p:nvSpPr>
        <p:spPr bwMode="auto">
          <a:xfrm flipH="0" flipV="0">
            <a:off x="754209" y="3324250"/>
            <a:ext cx="3676090" cy="11582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Функционал:</a:t>
            </a:r>
            <a:endParaRPr/>
          </a:p>
          <a:p>
            <a:pPr algn="l">
              <a:defRPr/>
            </a:pPr>
            <a:r>
              <a:rPr/>
              <a:t>• Публичные сообщения → всем</a:t>
            </a:r>
            <a:endParaRPr/>
          </a:p>
          <a:p>
            <a:pPr algn="l">
              <a:defRPr/>
            </a:pPr>
            <a:r>
              <a:rPr/>
              <a:t>• Приватные (@username) → конкретному</a:t>
            </a:r>
            <a:endParaRPr/>
          </a:p>
          <a:p>
            <a:pPr algn="l">
              <a:defRPr/>
            </a:pPr>
            <a:r>
              <a:rPr/>
              <a:t>• quit/q → выход</a:t>
            </a:r>
            <a:endParaRPr/>
          </a:p>
          <a:p>
            <a:pPr algn="l">
              <a:defRPr/>
            </a:pPr>
            <a:r>
              <a:rPr/>
              <a:t>• История → последние 10 сообщений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1867898" name="Google Shape;20;p5"/>
          <p:cNvSpPr txBox="1"/>
          <p:nvPr>
            <p:ph type="body" idx="1"/>
          </p:nvPr>
        </p:nvSpPr>
        <p:spPr bwMode="auto">
          <a:xfrm flipH="0" flipV="0">
            <a:off x="64586" y="952052"/>
            <a:ext cx="4691652" cy="3539206"/>
          </a:xfrm>
          <a:prstGeom prst="rect">
            <a:avLst/>
          </a:prstGeom>
        </p:spPr>
        <p:txBody>
          <a:bodyPr spcFirstLastPara="1" vertOverflow="overflow" horzOverflow="overflow" vert="horz" wrap="square" lIns="91423" tIns="91423" rIns="91423" bIns="91423" numCol="1" spcCol="0" rtlCol="0" fromWordArt="0" anchor="t" anchorCtr="0" forceAA="0" upright="0" compatLnSpc="0">
            <a:normAutofit fontScale="95000" lnSpcReduction="1000"/>
          </a:bodyPr>
          <a:lstStyle>
            <a:lvl1pPr marL="457200" lvl="0" indent="-3238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49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void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Client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SendMessages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()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{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std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string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message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;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while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std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getline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std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cin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,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message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))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{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8000"/>
                </a:solidFill>
                <a:latin typeface="Droid Sans Mono"/>
                <a:ea typeface="Droid Sans Mono"/>
                <a:cs typeface="Droid Sans Mono"/>
              </a:rPr>
              <a:t>        // Пропускаем пустые сообщения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if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(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message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.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empty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())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continue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;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boost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asio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write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*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socket_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,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boost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asio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buffer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message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+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\n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));</a:t>
            </a:r>
            <a:endParaRPr sz="1100" b="0" i="0" u="none">
              <a:solidFill>
                <a:srgbClr val="000000"/>
              </a:solidFill>
              <a:latin typeface="Droid Sans Mono"/>
              <a:ea typeface="Droid Sans Mono"/>
              <a:cs typeface="Droid Sans Mono"/>
            </a:endParaRPr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if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is_quit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message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)) {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    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std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cout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&lt;&lt;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Disconnecting...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&lt;&lt;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std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endl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;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    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break</a:t>
            </a: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;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lang="en-US" sz="1100" b="0" i="0" u="none" strike="noStrike" cap="none" spc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}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}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socket_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-&gt;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close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();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}</a:t>
            </a:r>
            <a:endParaRPr sz="1100"/>
          </a:p>
        </p:txBody>
      </p:sp>
      <p:sp>
        <p:nvSpPr>
          <p:cNvPr id="247456110" name="Google Shape;373;p54"/>
          <p:cNvSpPr txBox="1"/>
          <p:nvPr/>
        </p:nvSpPr>
        <p:spPr bwMode="auto">
          <a:xfrm flipH="0" flipV="0">
            <a:off x="630236" y="210388"/>
            <a:ext cx="7786436" cy="1095898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>
            <a:def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3100" b="1"/>
              <a:t>Клиент</a:t>
            </a:r>
            <a:r>
              <a:rPr sz="3100" b="1"/>
              <a:t> - потоки приема и отправки</a:t>
            </a:r>
            <a:endParaRPr sz="3100" b="1"/>
          </a:p>
        </p:txBody>
      </p:sp>
      <p:sp>
        <p:nvSpPr>
          <p:cNvPr id="658936119" name="Google Shape;20;p5"/>
          <p:cNvSpPr txBox="1"/>
          <p:nvPr/>
        </p:nvSpPr>
        <p:spPr bwMode="auto">
          <a:xfrm flipH="0" flipV="0">
            <a:off x="4523455" y="952052"/>
            <a:ext cx="4691651" cy="3539206"/>
          </a:xfrm>
          <a:prstGeom prst="rect">
            <a:avLst/>
          </a:prstGeom>
        </p:spPr>
        <p:txBody>
          <a:bodyPr spcFirstLastPara="1" vertOverflow="overflow" horzOverflow="overflow" vert="horz" wrap="square" lIns="91423" tIns="91423" rIns="91423" bIns="91423" numCol="1" spcCol="0" rtlCol="0" fromWordArt="0" anchor="t" anchorCtr="0" forceAA="0" upright="0" compatLnSpc="0">
            <a:normAutofit fontScale="95000" lnSpcReduction="1000"/>
          </a:bodyPr>
          <a:lstStyle>
            <a:def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3848" algn="l">
              <a:lnSpc>
                <a:spcPct val="120000"/>
              </a:lnSpc>
              <a:spcBef>
                <a:spcPts val="298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L="914400" marR="0" lvl="1" indent="-311148" algn="l">
              <a:lnSpc>
                <a:spcPct val="120000"/>
              </a:lnSpc>
              <a:spcBef>
                <a:spcPts val="298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L="1371600" marR="0" lvl="2" indent="-311148" algn="l">
              <a:lnSpc>
                <a:spcPct val="120000"/>
              </a:lnSpc>
              <a:spcBef>
                <a:spcPts val="298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3pPr>
            <a:lvl4pPr marL="1828800" marR="0" lvl="3" indent="-311148" algn="l">
              <a:lnSpc>
                <a:spcPct val="120000"/>
              </a:lnSpc>
              <a:spcBef>
                <a:spcPts val="298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4pPr>
            <a:lvl5pPr marL="2286000" marR="0" lvl="4" indent="-311148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5pPr>
            <a:lvl6pPr marL="2743200" marR="0" lvl="5" indent="-311148" algn="l">
              <a:lnSpc>
                <a:spcPct val="120000"/>
              </a:lnSpc>
              <a:spcBef>
                <a:spcPts val="298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6pPr>
            <a:lvl7pPr marL="3200400" marR="0" lvl="6" indent="-311148" algn="l">
              <a:lnSpc>
                <a:spcPct val="120000"/>
              </a:lnSpc>
              <a:spcBef>
                <a:spcPts val="298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7pPr>
            <a:lvl8pPr marL="3657600" marR="0" lvl="7" indent="-311148" algn="l">
              <a:lnSpc>
                <a:spcPct val="120000"/>
              </a:lnSpc>
              <a:spcBef>
                <a:spcPts val="298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8pPr>
            <a:lvl9pPr marL="4114800" marR="0" lvl="8" indent="-311148" algn="l">
              <a:lnSpc>
                <a:spcPct val="120000"/>
              </a:lnSpc>
              <a:spcBef>
                <a:spcPts val="298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9pPr>
          </a:lstStyle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void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Client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ReceiveMessages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()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{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std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array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&lt;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char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,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1024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&gt;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buffer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;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boost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system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error_code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error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;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for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(;;)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{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size_t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len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=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socket_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-&gt;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read_some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boost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asio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buffer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buffer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),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error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);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if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(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error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) {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  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std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cout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&lt;&lt;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ERROR!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&lt;&lt;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error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&lt;&lt;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std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endl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;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  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break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;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}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8000"/>
                </a:solidFill>
                <a:latin typeface="Droid Sans Mono"/>
                <a:ea typeface="Droid Sans Mono"/>
                <a:cs typeface="Droid Sans Mono"/>
              </a:rPr>
              <a:t>        // Выводим полученное сообщение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std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cout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&lt;&lt;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std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string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buffer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.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data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(),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len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)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&lt;&lt;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std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endl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;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} 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}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3642332" name="Google Shape;19;p5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/>
              <a:t>Сервер – архитектура и многопоточность</a:t>
            </a:r>
            <a:endParaRPr/>
          </a:p>
        </p:txBody>
      </p:sp>
      <p:sp>
        <p:nvSpPr>
          <p:cNvPr id="298449080" name="Google Shape;20;p5"/>
          <p:cNvSpPr txBox="1"/>
          <p:nvPr>
            <p:ph type="body" idx="1"/>
          </p:nvPr>
        </p:nvSpPr>
        <p:spPr bwMode="auto">
          <a:xfrm>
            <a:off x="500550" y="1237543"/>
            <a:ext cx="8520600" cy="3416400"/>
          </a:xfrm>
          <a:prstGeom prst="rect">
            <a:avLst/>
          </a:prstGeom>
        </p:spPr>
        <p:txBody>
          <a:bodyPr spcFirstLastPara="1" vertOverflow="overflow" horzOverflow="overflow" vert="horz" wrap="square" lIns="91425" tIns="91425" rIns="91425" bIns="91425" numCol="1" spcCol="0" rtlCol="0" fromWordArt="0" anchor="t" anchorCtr="0" forceAA="0" upright="0" compatLnSpc="0">
            <a:normAutofit fontScale="80000" lnSpcReduction="4000"/>
          </a:bodyPr>
          <a:lstStyle>
            <a:lvl1pPr marL="457200" lvl="0" indent="-3238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8000"/>
                </a:solidFill>
                <a:latin typeface="Droid Sans Mono"/>
                <a:ea typeface="Droid Sans Mono"/>
                <a:cs typeface="Droid Sans Mono"/>
              </a:rPr>
              <a:t>// Глобальные структуры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std::vector&lt;clientInfo&gt; clients;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std::mutex clients_mutex;</a:t>
            </a:r>
            <a:b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</a:b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8000"/>
                </a:solidFill>
                <a:latin typeface="Droid Sans Mono"/>
                <a:ea typeface="Droid Sans Mono"/>
                <a:cs typeface="Droid Sans Mono"/>
              </a:rPr>
              <a:t>// Основной цикл сервера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void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server_run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(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int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port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) {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tcp::acceptor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acceptor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(io_context, tcp::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endpoint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(tcp::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v4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(), port));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while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(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true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) {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auto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socket = std::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make_shared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&lt;tcp::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socket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&gt;(io_context);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acceptor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.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accept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(*socket);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8000"/>
                </a:solidFill>
                <a:latin typeface="Droid Sans Mono"/>
                <a:ea typeface="Droid Sans Mono"/>
                <a:cs typeface="Droid Sans Mono"/>
              </a:rPr>
              <a:t>        // Каждый клиент в отдельном потоке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std::thread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client_thread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(handle_client, socket);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client_thread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.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detach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();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}</a:t>
            </a:r>
            <a:endParaRPr sz="1100"/>
          </a:p>
          <a:p>
            <a:pPr marL="133349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}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762191" name="Google Shape;20;p5"/>
          <p:cNvSpPr txBox="1"/>
          <p:nvPr>
            <p:ph type="body" idx="1"/>
          </p:nvPr>
        </p:nvSpPr>
        <p:spPr bwMode="auto">
          <a:xfrm flipH="0" flipV="0">
            <a:off x="563524" y="1040744"/>
            <a:ext cx="4326537" cy="3416400"/>
          </a:xfrm>
          <a:prstGeom prst="rect">
            <a:avLst/>
          </a:prstGeom>
        </p:spPr>
        <p:txBody>
          <a:bodyPr spcFirstLastPara="1" vertOverflow="overflow" horzOverflow="overflow" vert="horz" wrap="square" lIns="91423" tIns="91423" rIns="91423" bIns="91423" numCol="1" spcCol="0" rtlCol="0" fromWordArt="0" anchor="t" anchorCtr="0" forceAA="0" upright="0" compatLnSpc="0">
            <a:normAutofit fontScale="95000" lnSpcReduction="1000"/>
          </a:bodyPr>
          <a:lstStyle>
            <a:lvl1pPr marL="457200" lvl="0" indent="-3238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49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void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handle_client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(std::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shared_ptr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&lt;tcp::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socket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&gt; 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socket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) {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8000"/>
                </a:solidFill>
                <a:latin typeface="Droid Sans Mono"/>
                <a:ea typeface="Droid Sans Mono"/>
                <a:cs typeface="Droid Sans Mono"/>
              </a:rPr>
              <a:t>    // 1. Читаем имя пользователя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std::string username =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read_username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(socket);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8000"/>
                </a:solidFill>
                <a:latin typeface="Droid Sans Mono"/>
                <a:ea typeface="Droid Sans Mono"/>
                <a:cs typeface="Droid Sans Mono"/>
              </a:rPr>
              <a:t>    // 2. Добавляем клиента в общий список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{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std::lock_guard&lt;std::mutex&gt;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lock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(clients_mutex);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clients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.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push_back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({socket, username});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}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8000"/>
                </a:solidFill>
                <a:latin typeface="Droid Sans Mono"/>
                <a:ea typeface="Droid Sans Mono"/>
                <a:cs typeface="Droid Sans Mono"/>
              </a:rPr>
              <a:t>    // 3. Основной цикл обработки сообщений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while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(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true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) {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std::string message =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read_message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(socket);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endParaRPr/>
          </a:p>
        </p:txBody>
      </p:sp>
      <p:sp>
        <p:nvSpPr>
          <p:cNvPr id="327338991" name="Google Shape;373;p54"/>
          <p:cNvSpPr txBox="1"/>
          <p:nvPr/>
        </p:nvSpPr>
        <p:spPr bwMode="auto">
          <a:xfrm flipH="0" flipV="0">
            <a:off x="630236" y="210387"/>
            <a:ext cx="7156684" cy="895953"/>
          </a:xfrm>
          <a:prstGeom prst="rect">
            <a:avLst/>
          </a:prstGeom>
        </p:spPr>
        <p:txBody>
          <a:bodyPr spcFirstLastPara="1" wrap="square" lIns="91422" tIns="91422" rIns="91422" bIns="91422" anchor="t" anchorCtr="0">
            <a:noAutofit/>
          </a:bodyPr>
          <a:lstStyle>
            <a:def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3100" b="1"/>
              <a:t>Сервер </a:t>
            </a:r>
            <a:r>
              <a:rPr sz="3100" b="1"/>
              <a:t>– обработка клиента</a:t>
            </a:r>
            <a:endParaRPr sz="3100" b="1"/>
          </a:p>
        </p:txBody>
      </p:sp>
      <p:sp>
        <p:nvSpPr>
          <p:cNvPr id="733255360" name="Google Shape;20;p5"/>
          <p:cNvSpPr txBox="1"/>
          <p:nvPr/>
        </p:nvSpPr>
        <p:spPr bwMode="auto">
          <a:xfrm flipH="0" flipV="0">
            <a:off x="4779855" y="809625"/>
            <a:ext cx="4326537" cy="3563549"/>
          </a:xfrm>
          <a:prstGeom prst="rect">
            <a:avLst/>
          </a:prstGeom>
        </p:spPr>
        <p:txBody>
          <a:bodyPr spcFirstLastPara="1" vertOverflow="overflow" horzOverflow="overflow" vert="horz" wrap="square" lIns="91423" tIns="91423" rIns="91423" bIns="91423" numCol="1" spcCol="0" rtlCol="0" fromWordArt="0" anchor="t" anchorCtr="0" forceAA="0" upright="0" compatLnSpc="0">
            <a:normAutofit fontScale="85000" lnSpcReduction="3000"/>
          </a:bodyPr>
          <a:lstStyle>
            <a:def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3849" algn="l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L="914400" marR="0" lvl="1" indent="-311149" algn="l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L="1371600" marR="0" lvl="2" indent="-311149" algn="l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3pPr>
            <a:lvl4pPr marL="1828800" marR="0" lvl="3" indent="-311149" algn="l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4pPr>
            <a:lvl5pPr marL="2286000" marR="0" lvl="4" indent="-311149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5pPr>
            <a:lvl6pPr marL="2743200" marR="0" lvl="5" indent="-311149" algn="l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6pPr>
            <a:lvl7pPr marL="3200400" marR="0" lvl="6" indent="-311149" algn="l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7pPr>
            <a:lvl8pPr marL="3657600" marR="0" lvl="7" indent="-311149" algn="l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8pPr>
            <a:lvl9pPr marL="4114800" marR="0" lvl="8" indent="-311149" algn="l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9pPr>
          </a:lstStyle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8000"/>
                </a:solidFill>
                <a:latin typeface="Droid Sans Mono"/>
                <a:ea typeface="Droid Sans Mono"/>
                <a:cs typeface="Droid Sans Mono"/>
              </a:rPr>
              <a:t>  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if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(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message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[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0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] == 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'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@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'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) {</a:t>
            </a:r>
            <a:endParaRPr sz="10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00" b="0" i="0" u="none">
                <a:solidFill>
                  <a:srgbClr val="008000"/>
                </a:solidFill>
                <a:latin typeface="Droid Sans Mono"/>
                <a:ea typeface="Droid Sans Mono"/>
                <a:cs typeface="Droid Sans Mono"/>
              </a:rPr>
              <a:t>            // Приватное сообщение — ищем получателя</a:t>
            </a:r>
            <a:endParaRPr sz="10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   std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string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target_username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= 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message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.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substr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1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, 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space_pos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- 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1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);</a:t>
            </a:r>
            <a:endParaRPr sz="10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    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std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::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string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private_message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= 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message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.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substr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space_pos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+ 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1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);</a:t>
            </a:r>
            <a:endParaRPr sz="10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} </a:t>
            </a:r>
            <a:endParaRPr sz="10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else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if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(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is_quit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(message)) {</a:t>
            </a:r>
            <a:endParaRPr sz="10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00" b="0" i="0" u="none">
                <a:solidFill>
                  <a:srgbClr val="008000"/>
                </a:solidFill>
                <a:latin typeface="Droid Sans Mono"/>
                <a:ea typeface="Droid Sans Mono"/>
                <a:cs typeface="Droid Sans Mono"/>
              </a:rPr>
              <a:t>            // Выход — удаляем клиента из списка</a:t>
            </a:r>
            <a:endParaRPr sz="10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    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remove_client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(username);</a:t>
            </a:r>
            <a:endParaRPr sz="10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    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break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;</a:t>
            </a:r>
            <a:endParaRPr sz="10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}</a:t>
            </a:r>
            <a:endParaRPr sz="10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else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{</a:t>
            </a:r>
            <a:endParaRPr sz="10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00" b="0" i="0" u="none">
                <a:solidFill>
                  <a:srgbClr val="008000"/>
                </a:solidFill>
                <a:latin typeface="Droid Sans Mono"/>
                <a:ea typeface="Droid Sans Mono"/>
                <a:cs typeface="Droid Sans Mono"/>
              </a:rPr>
              <a:t>            // Публичное сообщение — рассылаем всем</a:t>
            </a:r>
            <a:endParaRPr sz="10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    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broadcast_message</a:t>
            </a: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(username, message);</a:t>
            </a:r>
            <a:endParaRPr sz="10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}</a:t>
            </a:r>
            <a:endParaRPr sz="10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}</a:t>
            </a:r>
            <a:endParaRPr sz="1000"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}</a:t>
            </a:r>
            <a:endParaRPr sz="10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582005" name="Google Shape;20;p5"/>
          <p:cNvSpPr txBox="1"/>
          <p:nvPr>
            <p:ph type="body" idx="1"/>
          </p:nvPr>
        </p:nvSpPr>
        <p:spPr bwMode="auto">
          <a:xfrm flipH="0" flipV="0">
            <a:off x="500549" y="1200805"/>
            <a:ext cx="4680773" cy="3642062"/>
          </a:xfrm>
          <a:prstGeom prst="rect">
            <a:avLst/>
          </a:prstGeom>
        </p:spPr>
        <p:txBody>
          <a:bodyPr spcFirstLastPara="1" vertOverflow="overflow" horzOverflow="overflow" vert="horz" wrap="square" lIns="91423" tIns="91423" rIns="91423" bIns="91423" numCol="1" spcCol="0" rtlCol="0" fromWordArt="0" anchor="t" anchorCtr="0" forceAA="0" upright="0" compatLnSpc="0">
            <a:normAutofit fontScale="90000" lnSpcReduction="2000"/>
          </a:bodyPr>
          <a:lstStyle>
            <a:lvl1pPr marL="457200" lvl="0" indent="-3238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49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8000"/>
                </a:solidFill>
                <a:latin typeface="Droid Sans Mono"/>
                <a:ea typeface="Droid Sans Mono"/>
                <a:cs typeface="Droid Sans Mono"/>
              </a:rPr>
              <a:t>// Схема таблицы messages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const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char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* create_table_sql = 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CREATE TABLE IF NOT EXISTS messages (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id INTEGER PRIMARY KEY AUTOINCREMENT,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timestamp DATETIME DEFAULT CURRENT_TIMESTAMP,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from_user TEXT NOT NULL,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to_user TEXT,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message TEXT NOT NULL,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is_private INTEGER DEFAULT 0);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;</a:t>
            </a:r>
            <a:b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</a:b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8000"/>
                </a:solidFill>
                <a:latin typeface="Droid Sans Mono"/>
                <a:ea typeface="Droid Sans Mono"/>
                <a:cs typeface="Droid Sans Mono"/>
              </a:rPr>
              <a:t>// Инициализация БД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2B91AF"/>
                </a:solidFill>
                <a:latin typeface="Droid Sans Mono"/>
                <a:ea typeface="Droid Sans Mono"/>
                <a:cs typeface="Droid Sans Mono"/>
              </a:rPr>
              <a:t>sqlite3</a:t>
            </a:r>
            <a:r>
              <a:rPr sz="1050" b="0" i="0" u="none">
                <a:solidFill>
                  <a:srgbClr val="2B91AF"/>
                </a:solidFill>
                <a:latin typeface="Droid Sans Mono"/>
                <a:ea typeface="Droid Sans Mono"/>
                <a:cs typeface="Droid Sans Mono"/>
              </a:rPr>
              <a:t>* </a:t>
            </a:r>
            <a:r>
              <a:rPr sz="1050" b="0" i="0" u="none">
                <a:solidFill>
                  <a:srgbClr val="2B91AF"/>
                </a:solidFill>
                <a:latin typeface="Droid Sans Mono"/>
                <a:ea typeface="Droid Sans Mono"/>
                <a:cs typeface="Droid Sans Mono"/>
              </a:rPr>
              <a:t>database_init</a:t>
            </a:r>
            <a:r>
              <a:rPr sz="1050" b="0" i="0" u="none">
                <a:solidFill>
                  <a:srgbClr val="2B91AF"/>
                </a:solidFill>
                <a:latin typeface="Droid Sans Mono"/>
                <a:ea typeface="Droid Sans Mono"/>
                <a:cs typeface="Droid Sans Mono"/>
              </a:rPr>
              <a:t>() {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sqlite3* db =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nullptr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;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sqlite3_open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messenger.db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, &amp;db);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execute_sql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(create_table_sql, db);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return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db;</a:t>
            </a:r>
            <a:endParaRPr/>
          </a:p>
          <a:p>
            <a:pPr marL="133350" indent="0">
              <a:buClr>
                <a:schemeClr val="dk1"/>
              </a:buClr>
              <a:buSzPts val="1500"/>
              <a:buFont typeface="Roboto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}</a:t>
            </a:r>
            <a:endParaRPr/>
          </a:p>
        </p:txBody>
      </p:sp>
      <p:sp>
        <p:nvSpPr>
          <p:cNvPr id="805022048" name="Google Shape;373;p54"/>
          <p:cNvSpPr txBox="1"/>
          <p:nvPr/>
        </p:nvSpPr>
        <p:spPr bwMode="auto">
          <a:xfrm>
            <a:off x="630236" y="210387"/>
            <a:ext cx="6652198" cy="1095898"/>
          </a:xfrm>
          <a:prstGeom prst="rect">
            <a:avLst/>
          </a:prstGeom>
        </p:spPr>
        <p:txBody>
          <a:bodyPr spcFirstLastPara="1" wrap="square" lIns="91422" tIns="91422" rIns="91422" bIns="91422" anchor="t" anchorCtr="0">
            <a:noAutofit/>
          </a:bodyPr>
          <a:lstStyle>
            <a:def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3100" b="1"/>
              <a:t>База данных </a:t>
            </a:r>
            <a:r>
              <a:rPr sz="3100" b="1"/>
              <a:t>– инициализация</a:t>
            </a:r>
            <a:endParaRPr sz="3100" b="1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6261895" name="Google Shape;19;p5"/>
          <p:cNvSpPr txBox="1"/>
          <p:nvPr>
            <p:ph type="title"/>
          </p:nvPr>
        </p:nvSpPr>
        <p:spPr bwMode="auto">
          <a:xfrm>
            <a:off x="500549" y="330723"/>
            <a:ext cx="8520599" cy="1095899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100" b="1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</a:rPr>
              <a:t>База данных </a:t>
            </a:r>
            <a:r>
              <a:rPr lang="en-US" sz="3100" b="1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</a:rPr>
              <a:t>- сохранение</a:t>
            </a:r>
            <a:r>
              <a:rPr lang="en-US" sz="3100" b="1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</a:rPr>
              <a:t> и загрузка</a:t>
            </a:r>
            <a:endParaRPr sz="3100" b="1"/>
          </a:p>
          <a:p>
            <a:pPr>
              <a:defRPr/>
            </a:pPr>
            <a:endParaRPr/>
          </a:p>
        </p:txBody>
      </p:sp>
      <p:sp>
        <p:nvSpPr>
          <p:cNvPr id="1807893841" name="Google Shape;20;p5"/>
          <p:cNvSpPr txBox="1"/>
          <p:nvPr>
            <p:ph type="body" idx="1"/>
          </p:nvPr>
        </p:nvSpPr>
        <p:spPr bwMode="auto">
          <a:xfrm flipH="0" flipV="0">
            <a:off x="363719" y="1066983"/>
            <a:ext cx="8468503" cy="3862475"/>
          </a:xfrm>
          <a:prstGeom prst="rect">
            <a:avLst/>
          </a:prstGeom>
        </p:spPr>
        <p:txBody>
          <a:bodyPr spcFirstLastPara="1" vertOverflow="overflow" horzOverflow="overflow" vert="horz" wrap="square" lIns="91423" tIns="91423" rIns="91423" bIns="91423" numCol="1" spcCol="0" rtlCol="0" fromWordArt="0" anchor="t" anchorCtr="0" forceAA="0" upright="0" compatLnSpc="0">
            <a:normAutofit fontScale="95000" lnSpcReduction="1000"/>
          </a:bodyPr>
          <a:lstStyle>
            <a:lvl1pPr marL="457200" lvl="0" indent="-3238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49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49">
              <a:lnSpc>
                <a:spcPct val="120000"/>
              </a:lnSpc>
              <a:spcBef>
                <a:spcPts val="299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pPr marL="133350" indent="0">
              <a:buClr>
                <a:schemeClr val="dk1"/>
              </a:buClr>
              <a:buSzPts val="1500"/>
              <a:buFont typeface="Arial"/>
              <a:buNone/>
              <a:defRPr/>
            </a:pPr>
            <a:r>
              <a:rPr sz="1050" b="0" i="0" u="none">
                <a:solidFill>
                  <a:srgbClr val="008000"/>
                </a:solidFill>
                <a:latin typeface="Droid Sans Mono"/>
                <a:ea typeface="Droid Sans Mono"/>
                <a:cs typeface="Droid Sans Mono"/>
              </a:rPr>
              <a:t>// Сохранение сообщения</a:t>
            </a:r>
            <a:endParaRPr sz="1050"/>
          </a:p>
          <a:p>
            <a:pPr marL="133350" indent="0">
              <a:buClr>
                <a:schemeClr val="dk1"/>
              </a:buClr>
              <a:buSzPts val="1500"/>
              <a:buFont typeface="Arial"/>
              <a:buNone/>
              <a:defRPr/>
            </a:pP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void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save_message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(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const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 std::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string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&amp; 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from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, 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const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 std::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string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&amp; 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to</a:t>
            </a:r>
            <a:r>
              <a:rPr sz="110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, 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Arial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      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const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std::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string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&amp;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msg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,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bool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is_private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,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sqlite3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*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db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) {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Arial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const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char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* sql =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INSERT INTO messages (from_user, to_user, </a:t>
            </a:r>
            <a:endParaRPr sz="1100" b="0" i="0" u="none">
              <a:solidFill>
                <a:srgbClr val="000000"/>
              </a:solidFill>
              <a:latin typeface="Droid Sans Mono"/>
              <a:ea typeface="Droid Sans Mono"/>
              <a:cs typeface="Droid Sans Mono"/>
            </a:endParaRPr>
          </a:p>
          <a:p>
            <a:pPr marL="133350" indent="0">
              <a:buClr>
                <a:schemeClr val="dk1"/>
              </a:buClr>
              <a:buSzPts val="1500"/>
              <a:buFont typeface="Arial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                                      message, is_private) VALUES (?, ?, ?, ?);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;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Arial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sqlite3_stmt* stmt;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Arial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sqlite3_prepare_v2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(db, sql, -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1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, &amp;stmt,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nullptr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);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Arial"/>
              <a:buNone/>
              <a:defRPr/>
            </a:pP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Arial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sqlite3_bind_text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(stmt,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1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,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from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.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c_str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(), -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1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, SQLITE_STATIC);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Arial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if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(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to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.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empty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())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sqlite3_bind_null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(stmt,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2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);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Arial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else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sqlite3_bind_text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(stmt,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2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,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to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.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c_str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(), -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1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, SQLITE_STATIC);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Arial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sqlite3_bind_text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(stmt,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3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,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msg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.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c_str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(), -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1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, SQLITE_STATIC);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Arial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sqlite3_bind_int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(stmt,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4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, is_private ?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1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: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0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);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Arial"/>
              <a:buNone/>
              <a:defRPr/>
            </a:pP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Arial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sqlite3_step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(stmt);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Arial"/>
              <a:buNone/>
              <a:defRPr/>
            </a:pP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sqlite3_finalize</a:t>
            </a:r>
            <a:r>
              <a:rPr sz="110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(stmt);</a:t>
            </a:r>
            <a:endParaRPr sz="1100"/>
          </a:p>
          <a:p>
            <a:pPr marL="133350" indent="0">
              <a:buClr>
                <a:schemeClr val="dk1"/>
              </a:buClr>
              <a:buSzPts val="1500"/>
              <a:buFont typeface="Arial"/>
              <a:buNone/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}</a:t>
            </a:r>
            <a:endParaRPr/>
          </a:p>
        </p:txBody>
      </p:sp>
      <p:sp>
        <p:nvSpPr>
          <p:cNvPr id="600196914" name=""/>
          <p:cNvSpPr/>
          <p:nvPr/>
        </p:nvSpPr>
        <p:spPr bwMode="auto">
          <a:xfrm flipH="0" flipV="0">
            <a:off x="4760848" y="1248535"/>
            <a:ext cx="4358785" cy="169200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050" b="0" i="0" u="none">
                <a:solidFill>
                  <a:srgbClr val="008000"/>
                </a:solidFill>
                <a:latin typeface="Droid Sans Mono"/>
                <a:ea typeface="Droid Sans Mono"/>
                <a:cs typeface="Droid Sans Mono"/>
              </a:rPr>
              <a:t>// Загрузка истории для нового клиента</a:t>
            </a:r>
            <a:endParaRPr/>
          </a:p>
          <a:p>
            <a:pPr>
              <a:defRPr/>
            </a:pP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void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load_messages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(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const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 std::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string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&amp; 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username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, std::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shared_ptr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&lt;tcp::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socket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&gt; 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socket</a:t>
            </a:r>
            <a:r>
              <a:rPr sz="1050" b="0" i="0" u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</a:rPr>
              <a:t>, </a:t>
            </a:r>
            <a:endParaRPr/>
          </a:p>
          <a:p>
            <a:pPr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              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sqlite3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*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db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,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int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limit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) {</a:t>
            </a:r>
            <a:endParaRPr/>
          </a:p>
          <a:p>
            <a:pPr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  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const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char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* sql = 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"</a:t>
            </a: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SELECT from_user, message, timestamp, is_private FROM messages </a:t>
            </a:r>
            <a:endParaRPr/>
          </a:p>
          <a:p>
            <a:pPr>
              <a:defRPr/>
            </a:pPr>
            <a:r>
              <a:rPr sz="1050" b="0" i="0" u="none">
                <a:solidFill>
                  <a:srgbClr val="A31515"/>
                </a:solidFill>
                <a:latin typeface="Droid Sans Mono"/>
                <a:ea typeface="Droid Sans Mono"/>
                <a:cs typeface="Droid Sans Mono"/>
              </a:rPr>
              <a:t>               WHERE to_user IS NULL OR to_user = ? OR from_user = ? </a:t>
            </a:r>
            <a:endParaRPr/>
          </a:p>
          <a:p>
            <a:pPr>
              <a:defRPr/>
            </a:pPr>
            <a:r>
              <a:rPr sz="1050" b="0" i="0" u="none">
                <a:solidFill>
                  <a:srgbClr val="A31515"/>
                </a:solidFill>
                <a:latin typeface="Droid Sans Mono"/>
                <a:ea typeface="Droid Sans Mono"/>
                <a:cs typeface="Droid Sans Mono"/>
              </a:rPr>
              <a:t>                 ORDER BY timestamp DESC LIMIT ?;</a:t>
            </a:r>
            <a:r>
              <a:rPr sz="1050" b="0" i="0" u="none">
                <a:solidFill>
                  <a:srgbClr val="A31515"/>
                </a:solidFill>
                <a:latin typeface="Droid Sans Mono"/>
                <a:ea typeface="Droid Sans Mono"/>
                <a:cs typeface="Droid Sans Mono"/>
              </a:rPr>
              <a:t>"</a:t>
            </a:r>
            <a:r>
              <a:rPr sz="1050" b="0" i="0" u="none">
                <a:solidFill>
                  <a:srgbClr val="A31515"/>
                </a:solidFill>
                <a:latin typeface="Droid Sans Mono"/>
                <a:ea typeface="Droid Sans Mono"/>
                <a:cs typeface="Droid Sans Mono"/>
              </a:rPr>
              <a:t>;</a:t>
            </a:r>
            <a:endParaRPr/>
          </a:p>
          <a:p>
            <a:pPr>
              <a:defRPr/>
            </a:pPr>
            <a:r>
              <a:rPr sz="1050" b="0" i="0" u="none">
                <a:solidFill>
                  <a:srgbClr val="008000"/>
                </a:solidFill>
                <a:latin typeface="Droid Sans Mono"/>
                <a:ea typeface="Droid Sans Mono"/>
                <a:cs typeface="Droid Sans Mono"/>
              </a:rPr>
              <a:t>    // ... отправка истории клиенту</a:t>
            </a:r>
            <a:endParaRPr/>
          </a:p>
          <a:p>
            <a:pPr>
              <a:defRPr/>
            </a:pPr>
            <a:r>
              <a:rPr sz="1050" b="0" i="0" u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</a:rPr>
              <a:t>}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210055" name="Google Shape;19;p5"/>
          <p:cNvSpPr txBox="1"/>
          <p:nvPr>
            <p:ph type="title"/>
          </p:nvPr>
        </p:nvSpPr>
        <p:spPr bwMode="auto">
          <a:xfrm>
            <a:off x="500549" y="330723"/>
            <a:ext cx="8520599" cy="1095899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/>
              <a:t>                      Запуск сервера</a:t>
            </a:r>
            <a:endParaRPr/>
          </a:p>
        </p:txBody>
      </p:sp>
      <p:pic>
        <p:nvPicPr>
          <p:cNvPr id="1142696705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rot="0" flipH="0" flipV="0">
            <a:off x="1629483" y="878672"/>
            <a:ext cx="5871765" cy="42648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0231623" name="Google Shape;19;p5"/>
          <p:cNvSpPr txBox="1"/>
          <p:nvPr>
            <p:ph type="title"/>
          </p:nvPr>
        </p:nvSpPr>
        <p:spPr bwMode="auto">
          <a:xfrm>
            <a:off x="500549" y="330723"/>
            <a:ext cx="8520599" cy="1095899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/>
              <a:t>         Подключение первого клиента</a:t>
            </a:r>
            <a:endParaRPr/>
          </a:p>
        </p:txBody>
      </p:sp>
      <p:pic>
        <p:nvPicPr>
          <p:cNvPr id="1816937217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rot="0" flipH="0" flipV="0">
            <a:off x="-70847" y="878672"/>
            <a:ext cx="6802933" cy="3347314"/>
          </a:xfrm>
          <a:prstGeom prst="rect">
            <a:avLst/>
          </a:prstGeom>
        </p:spPr>
      </p:pic>
      <p:pic>
        <p:nvPicPr>
          <p:cNvPr id="6421304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20547" y="2522946"/>
            <a:ext cx="6692727" cy="26205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234913" name="Google Shape;19;p5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/>
              <a:t>        Отправка публичных сообщений</a:t>
            </a:r>
            <a:endParaRPr/>
          </a:p>
        </p:txBody>
      </p:sp>
      <p:pic>
        <p:nvPicPr>
          <p:cNvPr id="863530400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flipH="0" flipV="0">
            <a:off x="0" y="2306954"/>
            <a:ext cx="6086590" cy="2994658"/>
          </a:xfrm>
          <a:prstGeom prst="rect">
            <a:avLst/>
          </a:prstGeom>
        </p:spPr>
      </p:pic>
      <p:pic>
        <p:nvPicPr>
          <p:cNvPr id="5937170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63425" y="744138"/>
            <a:ext cx="6726819" cy="2306954"/>
          </a:xfrm>
          <a:prstGeom prst="rect">
            <a:avLst/>
          </a:prstGeom>
        </p:spPr>
      </p:pic>
      <p:pic>
        <p:nvPicPr>
          <p:cNvPr id="15721048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371281" y="1096478"/>
            <a:ext cx="5937254" cy="2247768"/>
          </a:xfrm>
          <a:prstGeom prst="rect">
            <a:avLst/>
          </a:prstGeom>
        </p:spPr>
      </p:pic>
      <p:pic>
        <p:nvPicPr>
          <p:cNvPr id="1022026348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182356" y="3111282"/>
            <a:ext cx="6710175" cy="21903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700360" name="Google Shape;19;p5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/>
              <a:t>     Отправка приватных сообщений</a:t>
            </a:r>
            <a:endParaRPr/>
          </a:p>
        </p:txBody>
      </p:sp>
      <p:pic>
        <p:nvPicPr>
          <p:cNvPr id="1502172120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flipH="0" flipV="0">
            <a:off x="393595" y="809624"/>
            <a:ext cx="7527148" cy="2457005"/>
          </a:xfrm>
          <a:prstGeom prst="rect">
            <a:avLst/>
          </a:prstGeom>
        </p:spPr>
      </p:pic>
      <p:pic>
        <p:nvPicPr>
          <p:cNvPr id="205724133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93595" y="2864148"/>
            <a:ext cx="7020506" cy="2407673"/>
          </a:xfrm>
          <a:prstGeom prst="rect">
            <a:avLst/>
          </a:prstGeom>
        </p:spPr>
      </p:pic>
      <p:pic>
        <p:nvPicPr>
          <p:cNvPr id="150591447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623907" y="1647037"/>
            <a:ext cx="6429755" cy="243422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1513706" name="Google Shape;19;p5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/>
              <a:t>     Загрузка истории при подключении</a:t>
            </a:r>
            <a:endParaRPr/>
          </a:p>
        </p:txBody>
      </p:sp>
      <p:pic>
        <p:nvPicPr>
          <p:cNvPr id="1187952267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flipH="0" flipV="0">
            <a:off x="346363" y="943447"/>
            <a:ext cx="6362107" cy="3130214"/>
          </a:xfrm>
          <a:prstGeom prst="rect">
            <a:avLst/>
          </a:prstGeom>
        </p:spPr>
      </p:pic>
      <p:pic>
        <p:nvPicPr>
          <p:cNvPr id="18631902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603939" y="2007451"/>
            <a:ext cx="6283388" cy="30022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648339" name="Google Shape;19;p5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/>
              <a:t>                    Команда выхода</a:t>
            </a:r>
            <a:endParaRPr/>
          </a:p>
        </p:txBody>
      </p:sp>
      <p:pic>
        <p:nvPicPr>
          <p:cNvPr id="2107446469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flipH="0" flipV="0">
            <a:off x="449183" y="809624"/>
            <a:ext cx="6341743" cy="3030108"/>
          </a:xfrm>
          <a:prstGeom prst="rect">
            <a:avLst/>
          </a:prstGeom>
        </p:spPr>
      </p:pic>
      <p:pic>
        <p:nvPicPr>
          <p:cNvPr id="133375640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056914" y="2660394"/>
            <a:ext cx="6877645" cy="23586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9107461" name="Google Shape;19;p5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lang="en-US" sz="3100" b="1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</a:rPr>
              <a:t>                  Команда выхода</a:t>
            </a:r>
            <a:endParaRPr/>
          </a:p>
        </p:txBody>
      </p:sp>
      <p:pic>
        <p:nvPicPr>
          <p:cNvPr id="183259826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flipH="0" flipV="0">
            <a:off x="500550" y="2666092"/>
            <a:ext cx="6543825" cy="2477407"/>
          </a:xfrm>
          <a:prstGeom prst="rect">
            <a:avLst/>
          </a:prstGeom>
        </p:spPr>
      </p:pic>
      <p:pic>
        <p:nvPicPr>
          <p:cNvPr id="179037569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34296" y="809624"/>
            <a:ext cx="7504113" cy="2449486"/>
          </a:xfrm>
          <a:prstGeom prst="rect">
            <a:avLst/>
          </a:prstGeom>
        </p:spPr>
      </p:pic>
      <p:pic>
        <p:nvPicPr>
          <p:cNvPr id="114743440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4298530" y="809624"/>
            <a:ext cx="4629150" cy="41052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400"/>
              <a:t>Выводы</a:t>
            </a:r>
            <a:endParaRPr sz="300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3000"/>
          </a:p>
        </p:txBody>
      </p:sp>
      <p:graphicFrame>
        <p:nvGraphicFramePr>
          <p:cNvPr id="213" name="Google Shape;213;p42"/>
          <p:cNvGraphicFramePr>
            <a:graphicFrameLocks xmlns:a="http://schemas.openxmlformats.org/drawingml/2006/main"/>
          </p:cNvGraphicFramePr>
          <p:nvPr/>
        </p:nvGraphicFramePr>
        <p:xfrm>
          <a:off x="883264" y="1136177"/>
          <a:ext cx="7248525" cy="2738871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{617179B0-75F7-44BE-82BD-978F38E1F01B}</a:tableStyleId>
                <a:noFill/>
              </a:tblPr>
              <a:tblGrid>
                <a:gridCol w="497509"/>
                <a:gridCol w="6861064"/>
              </a:tblGrid>
              <a:tr h="484789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1</a:t>
                      </a: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sz="1600" b="0" i="0" u="none">
                          <a:solidFill>
                            <a:srgbClr val="002060"/>
                          </a:solidFill>
                          <a:latin typeface="Roboto"/>
                          <a:ea typeface="Roboto"/>
                          <a:cs typeface="Roboto"/>
                        </a:rPr>
                        <a:t>Цель достигнута — разра</a:t>
                      </a:r>
                      <a:r>
                        <a:rPr sz="1600" b="0" i="0" u="none">
                          <a:solidFill>
                            <a:srgbClr val="002060"/>
                          </a:solidFill>
                          <a:latin typeface="Roboto"/>
                          <a:ea typeface="Roboto"/>
                          <a:cs typeface="Roboto"/>
                        </a:rPr>
                        <a:t>бота</a:t>
                      </a:r>
                      <a:r>
                        <a:rPr sz="1600" b="0" i="0" u="none">
                          <a:solidFill>
                            <a:srgbClr val="002060"/>
                          </a:solidFill>
                          <a:latin typeface="Roboto"/>
                          <a:ea typeface="Roboto"/>
                          <a:cs typeface="Roboto"/>
                        </a:rPr>
                        <a:t>н консольный мессенджер </a:t>
                      </a:r>
                      <a:endParaRPr sz="1600">
                        <a:solidFill>
                          <a:srgbClr val="00206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156303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sz="1600" b="0" i="0" u="none">
                          <a:solidFill>
                            <a:srgbClr val="002060"/>
                          </a:solidFill>
                          <a:latin typeface="Roboto"/>
                          <a:ea typeface="Roboto"/>
                          <a:cs typeface="Roboto"/>
                        </a:rPr>
                        <a:t>Все задачи выполнены:</a:t>
                      </a:r>
                      <a:endParaRPr sz="1600" b="0" i="0" u="none">
                        <a:solidFill>
                          <a:srgbClr val="00206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sz="1000" b="0" i="0" u="none">
                          <a:solidFill>
                            <a:srgbClr val="002060"/>
                          </a:solidFill>
                          <a:latin typeface="Roboto"/>
                          <a:ea typeface="Roboto"/>
                          <a:cs typeface="Roboto"/>
                        </a:rPr>
                        <a:t> </a:t>
                      </a:r>
                      <a:r>
                        <a:rPr sz="1200" b="0" i="0" u="none">
                          <a:solidFill>
                            <a:srgbClr val="002060"/>
                          </a:solidFill>
                          <a:latin typeface="Roboto"/>
                          <a:ea typeface="Roboto"/>
                          <a:cs typeface="Roboto"/>
                        </a:rPr>
                        <a:t>-  Многопоточный сервер (поток на клиента)      </a:t>
                      </a:r>
                      <a:endParaRPr sz="1200" b="0" i="0" u="none">
                        <a:solidFill>
                          <a:srgbClr val="002060"/>
                        </a:solidFill>
                        <a:latin typeface="Roboto"/>
                        <a:cs typeface="Roboto"/>
                      </a:endParaRPr>
                    </a:p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sz="1200" b="0" i="0" u="none">
                          <a:solidFill>
                            <a:srgbClr val="002060"/>
                          </a:solidFill>
                          <a:latin typeface="Roboto"/>
                          <a:ea typeface="Roboto"/>
                          <a:cs typeface="Roboto"/>
                        </a:rPr>
                        <a:t> - </a:t>
                      </a:r>
                      <a:r>
                        <a:rPr sz="1200" b="0" i="0" u="none">
                          <a:solidFill>
                            <a:srgbClr val="002060"/>
                          </a:solidFill>
                          <a:latin typeface="Roboto"/>
                          <a:ea typeface="Roboto"/>
                          <a:cs typeface="Roboto"/>
                        </a:rPr>
                        <a:t> Клиент с раздельными потоками (отправка / приём)             </a:t>
                      </a:r>
                      <a:endParaRPr sz="1200" b="0" i="0" u="none">
                        <a:solidFill>
                          <a:srgbClr val="002060"/>
                        </a:solidFill>
                        <a:latin typeface="Roboto"/>
                        <a:cs typeface="Roboto"/>
                      </a:endParaRPr>
                    </a:p>
                    <a:p>
                      <a:pPr lvl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2060"/>
                          </a:solidFill>
                          <a:latin typeface="Roboto"/>
                          <a:ea typeface="Roboto"/>
                          <a:cs typeface="Roboto"/>
                        </a:rPr>
                        <a:t> </a:t>
                      </a:r>
                      <a:r>
                        <a:rPr lang="en-US" sz="1200" b="0" i="0" u="none" strike="noStrike" cap="none" spc="0">
                          <a:solidFill>
                            <a:srgbClr val="002060"/>
                          </a:solidFill>
                          <a:latin typeface="Roboto"/>
                          <a:ea typeface="Roboto"/>
                          <a:cs typeface="Roboto"/>
                        </a:rPr>
                        <a:t>-  </a:t>
                      </a:r>
                      <a:r>
                        <a:rPr sz="1200" b="0" i="0" u="none">
                          <a:solidFill>
                            <a:srgbClr val="002060"/>
                          </a:solidFill>
                          <a:latin typeface="Roboto"/>
                          <a:ea typeface="Roboto"/>
                          <a:cs typeface="Roboto"/>
                        </a:rPr>
                        <a:t>Публичные и приватные сообщения (@username)                        </a:t>
                      </a:r>
                      <a:endParaRPr sz="1200" b="0" i="0" u="none">
                        <a:solidFill>
                          <a:srgbClr val="002060"/>
                        </a:solidFill>
                        <a:latin typeface="Roboto"/>
                        <a:cs typeface="Roboto"/>
                      </a:endParaRPr>
                    </a:p>
                    <a:p>
                      <a:pPr lvl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2060"/>
                          </a:solidFill>
                          <a:latin typeface="Roboto"/>
                          <a:ea typeface="Roboto"/>
                          <a:cs typeface="Roboto"/>
                        </a:rPr>
                        <a:t> </a:t>
                      </a:r>
                      <a:r>
                        <a:rPr lang="en-US" sz="1200" b="0" i="0" u="none" strike="noStrike" cap="none" spc="0">
                          <a:solidFill>
                            <a:srgbClr val="002060"/>
                          </a:solidFill>
                          <a:latin typeface="Roboto"/>
                          <a:ea typeface="Roboto"/>
                          <a:cs typeface="Roboto"/>
                        </a:rPr>
                        <a:t>-  </a:t>
                      </a:r>
                      <a:r>
                        <a:rPr sz="1200" b="0" i="0" u="none">
                          <a:solidFill>
                            <a:srgbClr val="002060"/>
                          </a:solidFill>
                          <a:latin typeface="Roboto"/>
                          <a:ea typeface="Roboto"/>
                          <a:cs typeface="Roboto"/>
                        </a:rPr>
                        <a:t>Хранение истории в SQLite3                                          </a:t>
                      </a:r>
                      <a:endParaRPr sz="1200" b="0" i="0" u="none">
                        <a:solidFill>
                          <a:srgbClr val="002060"/>
                        </a:solidFill>
                        <a:latin typeface="Roboto"/>
                        <a:cs typeface="Roboto"/>
                      </a:endParaRPr>
                    </a:p>
                    <a:p>
                      <a:pPr lvl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2060"/>
                          </a:solidFill>
                          <a:latin typeface="Roboto"/>
                          <a:ea typeface="Roboto"/>
                          <a:cs typeface="Roboto"/>
                        </a:rPr>
                        <a:t> </a:t>
                      </a:r>
                      <a:r>
                        <a:rPr lang="en-US" sz="1200" b="0" i="0" u="none" strike="noStrike" cap="none" spc="0">
                          <a:solidFill>
                            <a:srgbClr val="002060"/>
                          </a:solidFill>
                          <a:latin typeface="Roboto"/>
                          <a:ea typeface="Roboto"/>
                          <a:cs typeface="Roboto"/>
                        </a:rPr>
                        <a:t>-  </a:t>
                      </a:r>
                      <a:r>
                        <a:rPr sz="1200" b="0" i="0" u="none">
                          <a:solidFill>
                            <a:srgbClr val="002060"/>
                          </a:solidFill>
                          <a:latin typeface="Roboto"/>
                          <a:ea typeface="Roboto"/>
                          <a:cs typeface="Roboto"/>
                        </a:rPr>
                        <a:t>Загрузка последних сообщений при </a:t>
                      </a:r>
                      <a:r>
                        <a:rPr sz="1200" b="0" i="0" u="none">
                          <a:solidFill>
                            <a:srgbClr val="002060"/>
                          </a:solidFill>
                          <a:latin typeface="Roboto"/>
                          <a:ea typeface="Roboto"/>
                          <a:cs typeface="Roboto"/>
                        </a:rPr>
                        <a:t>подключении </a:t>
                      </a:r>
                      <a:endParaRPr sz="1200">
                        <a:solidFill>
                          <a:srgbClr val="002060"/>
                        </a:solidFill>
                        <a:latin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484789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sz="1600">
                          <a:solidFill>
                            <a:srgbClr val="002060"/>
                          </a:solidFill>
                          <a:latin typeface="Roboto"/>
                          <a:ea typeface="Roboto"/>
                          <a:cs typeface="Roboto"/>
                        </a:rPr>
                        <a:t>Полезность проекта - 10 из 10 (</a:t>
                      </a:r>
                      <a:r>
                        <a:rPr sz="1600" b="0" i="0" u="none">
                          <a:solidFill>
                            <a:srgbClr val="002060"/>
                          </a:solidFill>
                          <a:latin typeface="Roboto"/>
                          <a:ea typeface="Roboto"/>
                          <a:cs typeface="Roboto"/>
                        </a:rPr>
                        <a:t>новый опыт: Boost.Asio, SQLite3, многопоточность</a:t>
                      </a:r>
                      <a:r>
                        <a:rPr sz="1600">
                          <a:solidFill>
                            <a:srgbClr val="002060"/>
                          </a:solidFill>
                          <a:latin typeface="Roboto"/>
                          <a:ea typeface="Roboto"/>
                          <a:cs typeface="Roboto"/>
                        </a:rPr>
                        <a:t>)</a:t>
                      </a:r>
                      <a:endParaRPr sz="1600">
                        <a:solidFill>
                          <a:srgbClr val="002060"/>
                        </a:solidFill>
                        <a:latin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484789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/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6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 bwMode="auto"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23" name="Google Shape;223;p43"/>
          <p:cNvSpPr txBox="1"/>
          <p:nvPr/>
        </p:nvSpPr>
        <p:spPr bwMode="auto"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24" name="Google Shape;224;p43"/>
          <p:cNvSpPr txBox="1"/>
          <p:nvPr/>
        </p:nvSpPr>
        <p:spPr bwMode="auto"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25" name="Google Shape;225;p43"/>
          <p:cNvSpPr txBox="1"/>
          <p:nvPr/>
        </p:nvSpPr>
        <p:spPr bwMode="auto"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26" name="Google Shape;226;p43"/>
          <p:cNvSpPr txBox="1"/>
          <p:nvPr/>
        </p:nvSpPr>
        <p:spPr bwMode="auto"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grpSp>
        <p:nvGrpSpPr>
          <p:cNvPr id="227" name="Google Shape;227;p43"/>
          <p:cNvGrpSpPr/>
          <p:nvPr/>
        </p:nvGrpSpPr>
        <p:grpSpPr bwMode="auto">
          <a:xfrm>
            <a:off x="5573613" y="528650"/>
            <a:ext cx="3356305" cy="1236599"/>
            <a:chOff x="4729635" y="887067"/>
            <a:chExt cx="3375207" cy="1399343"/>
          </a:xfrm>
        </p:grpSpPr>
        <p:pic>
          <p:nvPicPr>
            <p:cNvPr id="228" name="Google Shape;228;p43"/>
            <p:cNvPicPr/>
            <p:nvPr/>
          </p:nvPicPr>
          <p:blipFill>
            <a:blip r:embed="rId3">
              <a:alphaModFix/>
            </a:blip>
            <a:stretch/>
          </p:blipFill>
          <p:spPr bwMode="auto">
            <a:xfrm>
              <a:off x="4729635" y="887067"/>
              <a:ext cx="3375207" cy="1399343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229" name="Google Shape;229;p43"/>
            <p:cNvSpPr txBox="1"/>
            <p:nvPr/>
          </p:nvSpPr>
          <p:spPr bwMode="auto">
            <a:xfrm>
              <a:off x="5236900" y="1064135"/>
              <a:ext cx="2694600" cy="104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  <a:defRPr/>
              </a:pPr>
              <a:r>
                <a:rPr lang="ru" sz="1200">
                  <a:solidFill>
                    <a:schemeClr val="dk1"/>
                  </a:solidFill>
                  <a:latin typeface="Roboto"/>
                  <a:ea typeface="Roboto"/>
                  <a:cs typeface="Roboto"/>
                </a:rPr>
                <a:t>Ответьте на вопросы одногруппников и преподавателей и получите обратную связь на свою работу</a:t>
              </a:r>
              <a:endParaRPr sz="1100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/>
          <p:nvPr>
            <p:ph type="title" idx="4294967295"/>
          </p:nvPr>
        </p:nvSpPr>
        <p:spPr bwMode="auto"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5000">
                <a:solidFill>
                  <a:schemeClr val="lt1"/>
                </a:solidFill>
              </a:rPr>
              <a:t>Спасибо за внимание</a:t>
            </a:r>
            <a:r>
              <a:rPr lang="ru" sz="5000">
                <a:solidFill>
                  <a:schemeClr val="lt1"/>
                </a:solidFill>
              </a:rPr>
              <a:t>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r7-office/2024.4.2.721</Application>
  <DocSecurity>0</DocSecurity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3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Theme 1</vt:lpstr>
      <vt:lpstr>Theme 2</vt:lpstr>
      <vt:lpstr>Theme 3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identifier/>
  <dc:language/>
  <cp:lastModifiedBy>Nathalie Z</cp:lastModifiedBy>
  <cp:revision>3</cp:revision>
  <dcterms:modified xsi:type="dcterms:W3CDTF">2026-04-28T13:06:01Z</dcterms:modified>
  <cp:category/>
  <cp:contentStatus/>
  <cp:version/>
</cp:coreProperties>
</file>